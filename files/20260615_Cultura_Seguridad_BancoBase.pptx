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7" d="100"/>
          <a:sy n="177" d="100"/>
        </p:scale>
        <p:origin x="405"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932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con el formato oficial del template. Esta sesión no es solo un manual de escaneo: es el arranque de una cultura de seguridad en el desarrollo. El mensaje central es que pronto bloquearemos despliegues con vulnerabilidades, en fases.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corazón de la presentación. Anunciar el cambio con claridad pero sin alarmar: es por fases, empezamos por dar visibilidad, luego advertencia, y al final bloqueo de Critical y High. Las apps nuevas tendrán bloqueo; las existentes (legacy) tendrán un periodo de remediación más amplio. No damos fecha todavía.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Enmarcar el riesgo en términos de banco B2B. El bloqueo no es burocracia: es proteger la operación de nuestros clientes. Shift-left: arreglar en DEV es casi gratis.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mensaje a developers: esto te hace la vida más fácil, no más difícil. El gate solo formaliza algo que ya puedes hacer desde tu IDE. Quien escanea temprano, nunca se topa con el bloqueo.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análisis automatizados con Snyk (SCA, SAST, DAST, API) y una quinta capa: el pentest manual del equipo de Ciberinteligencia. No es ZAP ni ninguna otra herramienta: todo el escaneo automatizado es Snyk.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Aclaración clave: el escaneo de secretos NO lo corre el developer. Ya está automatizado en el pipeline de Bitbucket y bloquea el deploy si encuentra un secreto. La responsabilidad del developer es simplemente no hardcodear secretos y usar Vault o variables de entorno. Si se detecta uno, hay que rotar la credencial.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CLI. El comando del paso 3 corre el análisis y lo convierte a HTML por el pipe.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flujo en los tres IDEs: instalar, autenticar con SSO, abrir el proyecto como carpeta y correr el escaneo. En VS Code, siempre Open Folder, nunca arrastrar archivos.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el ciclo: el flujo del developer desemboca en el quality gate. Quien escanea temprano nunca llega al gate con sorpresas.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el formato oficial del template (¡Gracias! / Preguntas y respuestas). Buen momento para reforzar el llamado a la acción: instalar Snyk en el IDE y empezar a escanear antes de que el quality gate sea obligatorio.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82880" y="448056"/>
            <a:ext cx="4334256" cy="4251960"/>
          </a:xfrm>
          <a:prstGeom prst="roundRect">
            <a:avLst>
              <a:gd name="adj" fmla="val 2151"/>
            </a:avLst>
          </a:prstGeom>
          <a:solidFill>
            <a:srgbClr val="FFFFFF"/>
          </a:solidFill>
          <a:ln/>
        </p:spPr>
      </p:sp>
      <p:sp>
        <p:nvSpPr>
          <p:cNvPr id="3" name="Text 1"/>
          <p:cNvSpPr/>
          <p:nvPr/>
        </p:nvSpPr>
        <p:spPr>
          <a:xfrm>
            <a:off x="365760" y="694944"/>
            <a:ext cx="3950208" cy="2103120"/>
          </a:xfrm>
          <a:prstGeom prst="rect">
            <a:avLst/>
          </a:prstGeom>
          <a:noFill/>
          <a:ln/>
        </p:spPr>
        <p:txBody>
          <a:bodyPr wrap="square" lIns="0" tIns="0" rIns="0" bIns="0" rtlCol="0" anchor="t"/>
          <a:lstStyle/>
          <a:p>
            <a:pPr marL="0" indent="0" algn="l">
              <a:lnSpc>
                <a:spcPct val="102000"/>
              </a:lnSpc>
              <a:buNone/>
            </a:pPr>
            <a:r>
              <a:rPr lang="en-US" sz="3200" b="1" dirty="0">
                <a:solidFill>
                  <a:srgbClr val="212626"/>
                </a:solidFill>
                <a:latin typeface="Arial" pitchFamily="34" charset="0"/>
                <a:ea typeface="Arial" pitchFamily="34" charset="-122"/>
                <a:cs typeface="Arial" pitchFamily="34" charset="-120"/>
              </a:rPr>
              <a:t>Cultura de Seguridad</a:t>
            </a:r>
            <a:endParaRPr lang="en-US" sz="3200" dirty="0"/>
          </a:p>
          <a:p>
            <a:pPr marL="0" indent="0" algn="l">
              <a:lnSpc>
                <a:spcPct val="102000"/>
              </a:lnSpc>
              <a:buNone/>
            </a:pPr>
            <a:r>
              <a:rPr lang="en-US" sz="3200" b="1" dirty="0">
                <a:solidFill>
                  <a:srgbClr val="212626"/>
                </a:solidFill>
                <a:latin typeface="Arial" pitchFamily="34" charset="0"/>
                <a:ea typeface="Arial" pitchFamily="34" charset="-122"/>
                <a:cs typeface="Arial" pitchFamily="34" charset="-120"/>
              </a:rPr>
              <a:t>en el desarrollo</a:t>
            </a:r>
            <a:endParaRPr lang="en-US" sz="3200" dirty="0"/>
          </a:p>
        </p:txBody>
      </p:sp>
      <p:sp>
        <p:nvSpPr>
          <p:cNvPr id="4" name="Text 2"/>
          <p:cNvSpPr/>
          <p:nvPr/>
        </p:nvSpPr>
        <p:spPr>
          <a:xfrm>
            <a:off x="365760" y="2788920"/>
            <a:ext cx="4023360" cy="640080"/>
          </a:xfrm>
          <a:prstGeom prst="rect">
            <a:avLst/>
          </a:prstGeom>
          <a:noFill/>
          <a:ln/>
        </p:spPr>
        <p:txBody>
          <a:bodyPr wrap="square" lIns="0" tIns="0" rIns="0" bIns="0" rtlCol="0" anchor="t"/>
          <a:lstStyle/>
          <a:p>
            <a:pPr marL="0" indent="0" algn="l">
              <a:buNone/>
            </a:pPr>
            <a:r>
              <a:rPr lang="en-US" sz="1300" dirty="0">
                <a:solidFill>
                  <a:srgbClr val="5D6769"/>
                </a:solidFill>
                <a:latin typeface="Arial" pitchFamily="34" charset="0"/>
                <a:ea typeface="Arial" pitchFamily="34" charset="-122"/>
                <a:cs typeface="Arial" pitchFamily="34" charset="-120"/>
              </a:rPr>
              <a:t>Hacia despliegues seguros a producción · Programa SecDevOps</a:t>
            </a:r>
            <a:endParaRPr lang="en-US" sz="1300" dirty="0"/>
          </a:p>
        </p:txBody>
      </p:sp>
      <p:sp>
        <p:nvSpPr>
          <p:cNvPr id="5" name="Text 3"/>
          <p:cNvSpPr/>
          <p:nvPr/>
        </p:nvSpPr>
        <p:spPr>
          <a:xfrm>
            <a:off x="365760" y="3429000"/>
            <a:ext cx="4069080" cy="548640"/>
          </a:xfrm>
          <a:prstGeom prst="rect">
            <a:avLst/>
          </a:prstGeom>
          <a:noFill/>
          <a:ln/>
        </p:spPr>
        <p:txBody>
          <a:bodyPr wrap="square" lIns="0" tIns="0" rIns="0" bIns="0" rtlCol="0" anchor="t"/>
          <a:lstStyle/>
          <a:p>
            <a:pPr marL="0" indent="0" algn="l">
              <a:buNone/>
            </a:pPr>
            <a:r>
              <a:rPr lang="en-US" sz="1100" b="1" dirty="0">
                <a:solidFill>
                  <a:srgbClr val="D99100"/>
                </a:solidFill>
                <a:latin typeface="Arial" pitchFamily="34" charset="0"/>
                <a:ea typeface="Arial" pitchFamily="34" charset="-122"/>
                <a:cs typeface="Arial" pitchFamily="34" charset="-120"/>
              </a:rPr>
              <a:t>Próximamente: </a:t>
            </a:r>
            <a:r>
              <a:rPr lang="en-US" sz="1100" dirty="0">
                <a:solidFill>
                  <a:srgbClr val="212626"/>
                </a:solidFill>
                <a:latin typeface="Arial" pitchFamily="34" charset="0"/>
                <a:ea typeface="Arial" pitchFamily="34" charset="-122"/>
                <a:cs typeface="Arial" pitchFamily="34" charset="-120"/>
              </a:rPr>
              <a:t>bloqueo por fases de salidas con vulnerabilidades</a:t>
            </a:r>
            <a:endParaRPr lang="en-US" sz="1100" dirty="0"/>
          </a:p>
        </p:txBody>
      </p:sp>
      <p:pic>
        <p:nvPicPr>
          <p:cNvPr id="6" name="Image 0" descr="preencoded.png"/>
          <p:cNvPicPr>
            <a:picLocks noChangeAspect="1"/>
          </p:cNvPicPr>
          <p:nvPr/>
        </p:nvPicPr>
        <p:blipFill>
          <a:blip r:embed="rId4"/>
          <a:stretch>
            <a:fillRect/>
          </a:stretch>
        </p:blipFill>
        <p:spPr>
          <a:xfrm>
            <a:off x="365760" y="4105656"/>
            <a:ext cx="2121408" cy="393192"/>
          </a:xfrm>
          <a:prstGeom prst="rect">
            <a:avLst/>
          </a:prstGeom>
        </p:spPr>
      </p:pic>
      <p:sp>
        <p:nvSpPr>
          <p:cNvPr id="7" name="Text 4"/>
          <p:cNvSpPr/>
          <p:nvPr/>
        </p:nvSpPr>
        <p:spPr>
          <a:xfrm>
            <a:off x="6839712" y="4105656"/>
            <a:ext cx="2121408" cy="393192"/>
          </a:xfrm>
          <a:prstGeom prst="rect">
            <a:avLst/>
          </a:prstGeom>
          <a:noFill/>
          <a:ln/>
        </p:spPr>
        <p:txBody>
          <a:bodyPr wrap="square" lIns="0" tIns="0" rIns="0" bIns="0" rtlCol="0" anchor="ctr"/>
          <a:lstStyle/>
          <a:p>
            <a:pPr marL="0" indent="0" algn="l">
              <a:buNone/>
            </a:pPr>
            <a:r>
              <a:rPr lang="en-US" sz="950" b="1" dirty="0">
                <a:solidFill>
                  <a:srgbClr val="FFFFFF"/>
                </a:solidFill>
                <a:latin typeface="Arial" pitchFamily="34" charset="0"/>
                <a:ea typeface="Arial" pitchFamily="34" charset="-122"/>
                <a:cs typeface="Arial" pitchFamily="34" charset="-120"/>
              </a:rPr>
              <a:t>BASE </a:t>
            </a:r>
            <a:r>
              <a:rPr lang="en-US" sz="950" dirty="0">
                <a:solidFill>
                  <a:srgbClr val="FFFFFF"/>
                </a:solidFill>
                <a:latin typeface="Arial" pitchFamily="34" charset="0"/>
                <a:ea typeface="Arial" pitchFamily="34" charset="-122"/>
                <a:cs typeface="Arial" pitchFamily="34" charset="-120"/>
              </a:rPr>
              <a:t>Ciberseguridad · Seguridad TI</a:t>
            </a:r>
            <a:endParaRPr lang="en-US" sz="950" dirty="0"/>
          </a:p>
        </p:txBody>
      </p:sp>
      <p:sp>
        <p:nvSpPr>
          <p:cNvPr id="8" name="Text 5"/>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FFFFFF"/>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26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777240"/>
            <a:ext cx="1188720" cy="1188720"/>
          </a:xfrm>
          <a:prstGeom prst="rect">
            <a:avLst/>
          </a:prstGeom>
        </p:spPr>
      </p:pic>
      <p:sp>
        <p:nvSpPr>
          <p:cNvPr id="3" name="Text 0"/>
          <p:cNvSpPr/>
          <p:nvPr/>
        </p:nvSpPr>
        <p:spPr>
          <a:xfrm>
            <a:off x="1874520" y="777240"/>
            <a:ext cx="6766560" cy="411480"/>
          </a:xfrm>
          <a:prstGeom prst="rect">
            <a:avLst/>
          </a:prstGeom>
          <a:noFill/>
          <a:ln/>
        </p:spPr>
        <p:txBody>
          <a:bodyPr wrap="square" lIns="0" tIns="0" rIns="0" bIns="0" rtlCol="0" anchor="ctr"/>
          <a:lstStyle/>
          <a:p>
            <a:pPr marL="0" indent="0" algn="l">
              <a:buNone/>
            </a:pPr>
            <a:r>
              <a:rPr lang="en-US" sz="1500" b="1" dirty="0">
                <a:solidFill>
                  <a:srgbClr val="F5A800"/>
                </a:solidFill>
                <a:latin typeface="Arial" pitchFamily="34" charset="0"/>
                <a:ea typeface="Arial" pitchFamily="34" charset="-122"/>
                <a:cs typeface="Arial" pitchFamily="34" charset="-120"/>
              </a:rPr>
              <a:t>Lo que viene</a:t>
            </a:r>
            <a:endParaRPr lang="en-US" sz="1500" dirty="0"/>
          </a:p>
        </p:txBody>
      </p:sp>
      <p:sp>
        <p:nvSpPr>
          <p:cNvPr id="4" name="Text 1"/>
          <p:cNvSpPr/>
          <p:nvPr/>
        </p:nvSpPr>
        <p:spPr>
          <a:xfrm>
            <a:off x="1874520" y="1188720"/>
            <a:ext cx="6812280" cy="1371600"/>
          </a:xfrm>
          <a:prstGeom prst="rect">
            <a:avLst/>
          </a:prstGeom>
          <a:noFill/>
          <a:ln/>
        </p:spPr>
        <p:txBody>
          <a:bodyPr wrap="square" lIns="0" tIns="0" rIns="0" bIns="0" rtlCol="0" anchor="t"/>
          <a:lstStyle/>
          <a:p>
            <a:pPr marL="0" indent="0" algn="l">
              <a:lnSpc>
                <a:spcPct val="108000"/>
              </a:lnSpc>
              <a:buNone/>
            </a:pPr>
            <a:r>
              <a:rPr lang="en-US" sz="2600" b="1" dirty="0">
                <a:solidFill>
                  <a:srgbClr val="FFFFFF"/>
                </a:solidFill>
                <a:latin typeface="Arial" pitchFamily="34" charset="0"/>
                <a:ea typeface="Arial" pitchFamily="34" charset="-122"/>
                <a:cs typeface="Arial" pitchFamily="34" charset="-120"/>
              </a:rPr>
              <a:t>Pronto se bloquearán las salidas a producción de aplicaciones con vulnerabilidades </a:t>
            </a:r>
            <a:r>
              <a:rPr lang="en-US" sz="2600" b="1" dirty="0">
                <a:solidFill>
                  <a:srgbClr val="F5A800"/>
                </a:solidFill>
                <a:latin typeface="Arial" pitchFamily="34" charset="0"/>
                <a:ea typeface="Arial" pitchFamily="34" charset="-122"/>
                <a:cs typeface="Arial" pitchFamily="34" charset="-120"/>
              </a:rPr>
              <a:t>Critical y High</a:t>
            </a:r>
            <a:r>
              <a:rPr lang="en-US" sz="2600" b="1" dirty="0">
                <a:solidFill>
                  <a:srgbClr val="FFFFFF"/>
                </a:solidFill>
                <a:latin typeface="Arial" pitchFamily="34" charset="0"/>
                <a:ea typeface="Arial" pitchFamily="34" charset="-122"/>
                <a:cs typeface="Arial" pitchFamily="34" charset="-120"/>
              </a:rPr>
              <a:t>.</a:t>
            </a:r>
            <a:endParaRPr lang="en-US" sz="2600" dirty="0"/>
          </a:p>
        </p:txBody>
      </p:sp>
      <p:sp>
        <p:nvSpPr>
          <p:cNvPr id="5" name="Text 2"/>
          <p:cNvSpPr/>
          <p:nvPr/>
        </p:nvSpPr>
        <p:spPr>
          <a:xfrm>
            <a:off x="1874520" y="2606040"/>
            <a:ext cx="6812280" cy="640080"/>
          </a:xfrm>
          <a:prstGeom prst="rect">
            <a:avLst/>
          </a:prstGeom>
          <a:noFill/>
          <a:ln/>
        </p:spPr>
        <p:txBody>
          <a:bodyPr wrap="square" lIns="0" tIns="0" rIns="0" bIns="0" rtlCol="0" anchor="t"/>
          <a:lstStyle/>
          <a:p>
            <a:pPr marL="0" indent="0" algn="l">
              <a:buNone/>
            </a:pPr>
            <a:r>
              <a:rPr lang="en-US" sz="1300" dirty="0">
                <a:solidFill>
                  <a:srgbClr val="E0E0E0"/>
                </a:solidFill>
                <a:latin typeface="Arial" pitchFamily="34" charset="0"/>
                <a:ea typeface="Arial" pitchFamily="34" charset="-122"/>
                <a:cs typeface="Arial" pitchFamily="34" charset="-120"/>
              </a:rPr>
              <a:t>Las aplicaciones nuevas tendrán bloqueo; las aplicaciones existentes contarán con un periodo de remediación más amplio para ponerse al día.</a:t>
            </a:r>
            <a:endParaRPr lang="en-US" sz="1300" dirty="0"/>
          </a:p>
        </p:txBody>
      </p:sp>
      <p:sp>
        <p:nvSpPr>
          <p:cNvPr id="6" name="Shape 3"/>
          <p:cNvSpPr/>
          <p:nvPr/>
        </p:nvSpPr>
        <p:spPr>
          <a:xfrm>
            <a:off x="457200" y="3429000"/>
            <a:ext cx="2606040" cy="960120"/>
          </a:xfrm>
          <a:prstGeom prst="roundRect">
            <a:avLst>
              <a:gd name="adj" fmla="val 7619"/>
            </a:avLst>
          </a:prstGeom>
          <a:solidFill>
            <a:srgbClr val="2E3536"/>
          </a:solidFill>
          <a:ln/>
        </p:spPr>
      </p:sp>
      <p:sp>
        <p:nvSpPr>
          <p:cNvPr id="7" name="Text 4"/>
          <p:cNvSpPr/>
          <p:nvPr/>
        </p:nvSpPr>
        <p:spPr>
          <a:xfrm>
            <a:off x="594360" y="3520440"/>
            <a:ext cx="457200" cy="411480"/>
          </a:xfrm>
          <a:prstGeom prst="rect">
            <a:avLst/>
          </a:prstGeom>
          <a:noFill/>
          <a:ln/>
        </p:spPr>
        <p:txBody>
          <a:bodyPr wrap="square" lIns="0" tIns="0" rIns="0" bIns="0" rtlCol="0" anchor="ctr"/>
          <a:lstStyle/>
          <a:p>
            <a:pPr marL="0" indent="0" algn="l">
              <a:buNone/>
            </a:pPr>
            <a:r>
              <a:rPr lang="en-US" sz="1800" b="1" dirty="0">
                <a:solidFill>
                  <a:srgbClr val="F5A800"/>
                </a:solidFill>
                <a:latin typeface="Arial" pitchFamily="34" charset="0"/>
                <a:ea typeface="Arial" pitchFamily="34" charset="-122"/>
                <a:cs typeface="Arial" pitchFamily="34" charset="-120"/>
              </a:rPr>
              <a:t>1</a:t>
            </a:r>
            <a:endParaRPr lang="en-US" sz="1800" dirty="0"/>
          </a:p>
        </p:txBody>
      </p:sp>
      <p:sp>
        <p:nvSpPr>
          <p:cNvPr id="8" name="Text 5"/>
          <p:cNvSpPr/>
          <p:nvPr/>
        </p:nvSpPr>
        <p:spPr>
          <a:xfrm>
            <a:off x="960120" y="3520440"/>
            <a:ext cx="2011680" cy="365760"/>
          </a:xfrm>
          <a:prstGeom prst="rect">
            <a:avLst/>
          </a:prstGeom>
          <a:noFill/>
          <a:ln/>
        </p:spPr>
        <p:txBody>
          <a:bodyPr wrap="square" lIns="0" tIns="0" rIns="0" bIns="0" rtlCol="0" anchor="ctr"/>
          <a:lstStyle/>
          <a:p>
            <a:pPr marL="0" indent="0" algn="l">
              <a:buNone/>
            </a:pPr>
            <a:r>
              <a:rPr lang="en-US" sz="1150" b="1" dirty="0">
                <a:solidFill>
                  <a:srgbClr val="FFFFFF"/>
                </a:solidFill>
                <a:latin typeface="Arial" pitchFamily="34" charset="0"/>
                <a:ea typeface="Arial" pitchFamily="34" charset="-122"/>
                <a:cs typeface="Arial" pitchFamily="34" charset="-120"/>
              </a:rPr>
              <a:t>Fase 1 — Visibilidad</a:t>
            </a:r>
            <a:endParaRPr lang="en-US" sz="1150" dirty="0"/>
          </a:p>
        </p:txBody>
      </p:sp>
      <p:sp>
        <p:nvSpPr>
          <p:cNvPr id="9" name="Text 6"/>
          <p:cNvSpPr/>
          <p:nvPr/>
        </p:nvSpPr>
        <p:spPr>
          <a:xfrm>
            <a:off x="621792" y="3886200"/>
            <a:ext cx="2331720" cy="457200"/>
          </a:xfrm>
          <a:prstGeom prst="rect">
            <a:avLst/>
          </a:prstGeom>
          <a:noFill/>
          <a:ln/>
        </p:spPr>
        <p:txBody>
          <a:bodyPr wrap="square" lIns="0" tIns="0" rIns="0" bIns="0" rtlCol="0" anchor="t"/>
          <a:lstStyle/>
          <a:p>
            <a:pPr marL="0" indent="0" algn="l">
              <a:buNone/>
            </a:pPr>
            <a:r>
              <a:rPr lang="en-US" sz="950" dirty="0">
                <a:solidFill>
                  <a:srgbClr val="E0E0E0"/>
                </a:solidFill>
                <a:latin typeface="Arial" pitchFamily="34" charset="0"/>
                <a:ea typeface="Arial" pitchFamily="34" charset="-122"/>
                <a:cs typeface="Arial" pitchFamily="34" charset="-120"/>
              </a:rPr>
              <a:t>Escaneo activo. Resultados visibles, sin bloqueo.</a:t>
            </a:r>
            <a:endParaRPr lang="en-US" sz="950" dirty="0"/>
          </a:p>
        </p:txBody>
      </p:sp>
      <p:sp>
        <p:nvSpPr>
          <p:cNvPr id="10" name="Shape 7"/>
          <p:cNvSpPr/>
          <p:nvPr/>
        </p:nvSpPr>
        <p:spPr>
          <a:xfrm>
            <a:off x="3246120" y="3429000"/>
            <a:ext cx="2606040" cy="960120"/>
          </a:xfrm>
          <a:prstGeom prst="roundRect">
            <a:avLst>
              <a:gd name="adj" fmla="val 7619"/>
            </a:avLst>
          </a:prstGeom>
          <a:solidFill>
            <a:srgbClr val="2E3536"/>
          </a:solidFill>
          <a:ln/>
        </p:spPr>
      </p:sp>
      <p:sp>
        <p:nvSpPr>
          <p:cNvPr id="11" name="Text 8"/>
          <p:cNvSpPr/>
          <p:nvPr/>
        </p:nvSpPr>
        <p:spPr>
          <a:xfrm>
            <a:off x="3383280" y="3520440"/>
            <a:ext cx="457200" cy="411480"/>
          </a:xfrm>
          <a:prstGeom prst="rect">
            <a:avLst/>
          </a:prstGeom>
          <a:noFill/>
          <a:ln/>
        </p:spPr>
        <p:txBody>
          <a:bodyPr wrap="square" lIns="0" tIns="0" rIns="0" bIns="0" rtlCol="0" anchor="ctr"/>
          <a:lstStyle/>
          <a:p>
            <a:pPr marL="0" indent="0" algn="l">
              <a:buNone/>
            </a:pPr>
            <a:r>
              <a:rPr lang="en-US" sz="1800" b="1" dirty="0">
                <a:solidFill>
                  <a:srgbClr val="F5A800"/>
                </a:solidFill>
                <a:latin typeface="Arial" pitchFamily="34" charset="0"/>
                <a:ea typeface="Arial" pitchFamily="34" charset="-122"/>
                <a:cs typeface="Arial" pitchFamily="34" charset="-120"/>
              </a:rPr>
              <a:t>2</a:t>
            </a:r>
            <a:endParaRPr lang="en-US" sz="1800" dirty="0"/>
          </a:p>
        </p:txBody>
      </p:sp>
      <p:sp>
        <p:nvSpPr>
          <p:cNvPr id="12" name="Text 9"/>
          <p:cNvSpPr/>
          <p:nvPr/>
        </p:nvSpPr>
        <p:spPr>
          <a:xfrm>
            <a:off x="3749040" y="3520440"/>
            <a:ext cx="2011680" cy="365760"/>
          </a:xfrm>
          <a:prstGeom prst="rect">
            <a:avLst/>
          </a:prstGeom>
          <a:noFill/>
          <a:ln/>
        </p:spPr>
        <p:txBody>
          <a:bodyPr wrap="square" lIns="0" tIns="0" rIns="0" bIns="0" rtlCol="0" anchor="ctr"/>
          <a:lstStyle/>
          <a:p>
            <a:pPr marL="0" indent="0" algn="l">
              <a:buNone/>
            </a:pPr>
            <a:r>
              <a:rPr lang="en-US" sz="1150" b="1" dirty="0">
                <a:solidFill>
                  <a:srgbClr val="FFFFFF"/>
                </a:solidFill>
                <a:latin typeface="Arial" pitchFamily="34" charset="0"/>
                <a:ea typeface="Arial" pitchFamily="34" charset="-122"/>
                <a:cs typeface="Arial" pitchFamily="34" charset="-120"/>
              </a:rPr>
              <a:t>Fase 2 — Advertencia</a:t>
            </a:r>
            <a:endParaRPr lang="en-US" sz="1150" dirty="0"/>
          </a:p>
        </p:txBody>
      </p:sp>
      <p:sp>
        <p:nvSpPr>
          <p:cNvPr id="13" name="Text 10"/>
          <p:cNvSpPr/>
          <p:nvPr/>
        </p:nvSpPr>
        <p:spPr>
          <a:xfrm>
            <a:off x="3410712" y="3886200"/>
            <a:ext cx="2331720" cy="457200"/>
          </a:xfrm>
          <a:prstGeom prst="rect">
            <a:avLst/>
          </a:prstGeom>
          <a:noFill/>
          <a:ln/>
        </p:spPr>
        <p:txBody>
          <a:bodyPr wrap="square" lIns="0" tIns="0" rIns="0" bIns="0" rtlCol="0" anchor="t"/>
          <a:lstStyle/>
          <a:p>
            <a:pPr marL="0" indent="0" algn="l">
              <a:buNone/>
            </a:pPr>
            <a:r>
              <a:rPr lang="en-US" sz="950" dirty="0">
                <a:solidFill>
                  <a:srgbClr val="E0E0E0"/>
                </a:solidFill>
                <a:latin typeface="Arial" pitchFamily="34" charset="0"/>
                <a:ea typeface="Arial" pitchFamily="34" charset="-122"/>
                <a:cs typeface="Arial" pitchFamily="34" charset="-120"/>
              </a:rPr>
              <a:t>El pipeline alerta sobre Critical / High.</a:t>
            </a:r>
            <a:endParaRPr lang="en-US" sz="950" dirty="0"/>
          </a:p>
        </p:txBody>
      </p:sp>
      <p:sp>
        <p:nvSpPr>
          <p:cNvPr id="14" name="Shape 11"/>
          <p:cNvSpPr/>
          <p:nvPr/>
        </p:nvSpPr>
        <p:spPr>
          <a:xfrm>
            <a:off x="6035040" y="3429000"/>
            <a:ext cx="2606040" cy="960120"/>
          </a:xfrm>
          <a:prstGeom prst="roundRect">
            <a:avLst>
              <a:gd name="adj" fmla="val 7619"/>
            </a:avLst>
          </a:prstGeom>
          <a:solidFill>
            <a:srgbClr val="2E3536"/>
          </a:solidFill>
          <a:ln/>
        </p:spPr>
      </p:sp>
      <p:sp>
        <p:nvSpPr>
          <p:cNvPr id="15" name="Text 12"/>
          <p:cNvSpPr/>
          <p:nvPr/>
        </p:nvSpPr>
        <p:spPr>
          <a:xfrm>
            <a:off x="6172200" y="3520440"/>
            <a:ext cx="457200" cy="411480"/>
          </a:xfrm>
          <a:prstGeom prst="rect">
            <a:avLst/>
          </a:prstGeom>
          <a:noFill/>
          <a:ln/>
        </p:spPr>
        <p:txBody>
          <a:bodyPr wrap="square" lIns="0" tIns="0" rIns="0" bIns="0" rtlCol="0" anchor="ctr"/>
          <a:lstStyle/>
          <a:p>
            <a:pPr marL="0" indent="0" algn="l">
              <a:buNone/>
            </a:pPr>
            <a:r>
              <a:rPr lang="en-US" sz="1800" b="1" dirty="0">
                <a:solidFill>
                  <a:srgbClr val="F5A800"/>
                </a:solidFill>
                <a:latin typeface="Arial" pitchFamily="34" charset="0"/>
                <a:ea typeface="Arial" pitchFamily="34" charset="-122"/>
                <a:cs typeface="Arial" pitchFamily="34" charset="-120"/>
              </a:rPr>
              <a:t>3</a:t>
            </a:r>
            <a:endParaRPr lang="en-US" sz="1800" dirty="0"/>
          </a:p>
        </p:txBody>
      </p:sp>
      <p:sp>
        <p:nvSpPr>
          <p:cNvPr id="16" name="Text 13"/>
          <p:cNvSpPr/>
          <p:nvPr/>
        </p:nvSpPr>
        <p:spPr>
          <a:xfrm>
            <a:off x="6537960" y="3520440"/>
            <a:ext cx="2011680" cy="365760"/>
          </a:xfrm>
          <a:prstGeom prst="rect">
            <a:avLst/>
          </a:prstGeom>
          <a:noFill/>
          <a:ln/>
        </p:spPr>
        <p:txBody>
          <a:bodyPr wrap="square" lIns="0" tIns="0" rIns="0" bIns="0" rtlCol="0" anchor="ctr"/>
          <a:lstStyle/>
          <a:p>
            <a:pPr marL="0" indent="0" algn="l">
              <a:buNone/>
            </a:pPr>
            <a:r>
              <a:rPr lang="en-US" sz="1150" b="1" dirty="0">
                <a:solidFill>
                  <a:srgbClr val="FFFFFF"/>
                </a:solidFill>
                <a:latin typeface="Arial" pitchFamily="34" charset="0"/>
                <a:ea typeface="Arial" pitchFamily="34" charset="-122"/>
                <a:cs typeface="Arial" pitchFamily="34" charset="-120"/>
              </a:rPr>
              <a:t>Fase 3 — Bloqueo</a:t>
            </a:r>
            <a:endParaRPr lang="en-US" sz="1150" dirty="0"/>
          </a:p>
        </p:txBody>
      </p:sp>
      <p:sp>
        <p:nvSpPr>
          <p:cNvPr id="17" name="Text 14"/>
          <p:cNvSpPr/>
          <p:nvPr/>
        </p:nvSpPr>
        <p:spPr>
          <a:xfrm>
            <a:off x="6199632" y="3886200"/>
            <a:ext cx="2331720" cy="457200"/>
          </a:xfrm>
          <a:prstGeom prst="rect">
            <a:avLst/>
          </a:prstGeom>
          <a:noFill/>
          <a:ln/>
        </p:spPr>
        <p:txBody>
          <a:bodyPr wrap="square" lIns="0" tIns="0" rIns="0" bIns="0" rtlCol="0" anchor="t"/>
          <a:lstStyle/>
          <a:p>
            <a:pPr marL="0" indent="0" algn="l">
              <a:buNone/>
            </a:pPr>
            <a:r>
              <a:rPr lang="en-US" sz="950" dirty="0">
                <a:solidFill>
                  <a:srgbClr val="E0E0E0"/>
                </a:solidFill>
                <a:latin typeface="Arial" pitchFamily="34" charset="0"/>
                <a:ea typeface="Arial" pitchFamily="34" charset="-122"/>
                <a:cs typeface="Arial" pitchFamily="34" charset="-120"/>
              </a:rPr>
              <a:t>Apps nuevas: bloqueo. Apps existentes: plazo extendido.</a:t>
            </a:r>
            <a:endParaRPr lang="en-US" sz="950" dirty="0"/>
          </a:p>
        </p:txBody>
      </p:sp>
      <p:pic>
        <p:nvPicPr>
          <p:cNvPr id="18" name="Image 1" descr="preencoded.png"/>
          <p:cNvPicPr>
            <a:picLocks noChangeAspect="1"/>
          </p:cNvPicPr>
          <p:nvPr/>
        </p:nvPicPr>
        <p:blipFill>
          <a:blip r:embed="rId4"/>
          <a:stretch>
            <a:fillRect/>
          </a:stretch>
        </p:blipFill>
        <p:spPr>
          <a:xfrm>
            <a:off x="365760" y="4645152"/>
            <a:ext cx="960120" cy="178308"/>
          </a:xfrm>
          <a:prstGeom prst="rect">
            <a:avLst/>
          </a:prstGeom>
        </p:spPr>
      </p:pic>
      <p:sp>
        <p:nvSpPr>
          <p:cNvPr id="19" name="Text 15"/>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20" name="Text 16"/>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¿Por qué </a:t>
            </a:r>
            <a:r>
              <a:rPr lang="en-US" sz="2200" b="1" dirty="0">
                <a:solidFill>
                  <a:srgbClr val="D99100"/>
                </a:solidFill>
                <a:latin typeface="Arial" pitchFamily="34" charset="0"/>
                <a:ea typeface="Arial" pitchFamily="34" charset="-122"/>
                <a:cs typeface="Arial" pitchFamily="34" charset="-120"/>
              </a:rPr>
              <a:t>ahora</a:t>
            </a:r>
            <a:r>
              <a:rPr lang="en-US" sz="2200" dirty="0">
                <a:solidFill>
                  <a:srgbClr val="212626"/>
                </a:solidFill>
                <a:latin typeface="Arial" pitchFamily="34" charset="0"/>
                <a:ea typeface="Arial" pitchFamily="34" charset="-122"/>
                <a:cs typeface="Arial" pitchFamily="34" charset="-120"/>
              </a:rPr>
              <a:t>?</a:t>
            </a:r>
            <a:endParaRPr lang="en-US" sz="2200" dirty="0"/>
          </a:p>
        </p:txBody>
      </p:sp>
      <p:sp>
        <p:nvSpPr>
          <p:cNvPr id="3" name="Text 1"/>
          <p:cNvSpPr/>
          <p:nvPr/>
        </p:nvSpPr>
        <p:spPr>
          <a:xfrm>
            <a:off x="365760" y="914400"/>
            <a:ext cx="8412480" cy="640080"/>
          </a:xfrm>
          <a:prstGeom prst="rect">
            <a:avLst/>
          </a:prstGeom>
          <a:noFill/>
          <a:ln/>
        </p:spPr>
        <p:txBody>
          <a:bodyPr wrap="square" rtlCol="0" anchor="ctr"/>
          <a:lstStyle/>
          <a:p>
            <a:pPr marL="0" indent="0" algn="l">
              <a:buNone/>
            </a:pPr>
            <a:r>
              <a:rPr lang="en-US" sz="1300" dirty="0">
                <a:solidFill>
                  <a:srgbClr val="5D6769"/>
                </a:solidFill>
                <a:latin typeface="Arial" pitchFamily="34" charset="0"/>
                <a:ea typeface="Arial" pitchFamily="34" charset="-122"/>
                <a:cs typeface="Arial" pitchFamily="34" charset="-120"/>
              </a:rPr>
              <a:t>Somos un banco B2B que </a:t>
            </a:r>
            <a:r>
              <a:rPr lang="en-US" sz="1300" dirty="0" err="1">
                <a:solidFill>
                  <a:srgbClr val="5D6769"/>
                </a:solidFill>
                <a:latin typeface="Arial" pitchFamily="34" charset="0"/>
                <a:ea typeface="Arial" pitchFamily="34" charset="-122"/>
                <a:cs typeface="Arial" pitchFamily="34" charset="-120"/>
              </a:rPr>
              <a:t>mueve</a:t>
            </a:r>
            <a:r>
              <a:rPr lang="en-US" sz="1300" dirty="0">
                <a:solidFill>
                  <a:srgbClr val="5D6769"/>
                </a:solidFill>
                <a:latin typeface="Arial" pitchFamily="34" charset="0"/>
                <a:ea typeface="Arial" pitchFamily="34" charset="-122"/>
                <a:cs typeface="Arial" pitchFamily="34" charset="-120"/>
              </a:rPr>
              <a:t> </a:t>
            </a:r>
            <a:r>
              <a:rPr lang="en-US" sz="1300" dirty="0" err="1">
                <a:solidFill>
                  <a:srgbClr val="5D6769"/>
                </a:solidFill>
                <a:latin typeface="Arial" pitchFamily="34" charset="0"/>
                <a:ea typeface="Arial" pitchFamily="34" charset="-122"/>
                <a:cs typeface="Arial" pitchFamily="34" charset="-120"/>
              </a:rPr>
              <a:t>decenas</a:t>
            </a:r>
            <a:r>
              <a:rPr lang="en-US" sz="1300" dirty="0">
                <a:solidFill>
                  <a:srgbClr val="5D6769"/>
                </a:solidFill>
                <a:latin typeface="Arial" pitchFamily="34" charset="0"/>
                <a:ea typeface="Arial" pitchFamily="34" charset="-122"/>
                <a:cs typeface="Arial" pitchFamily="34" charset="-120"/>
              </a:rPr>
              <a:t> de miles de millones de </a:t>
            </a:r>
            <a:r>
              <a:rPr lang="en-US" sz="1300" dirty="0" err="1">
                <a:solidFill>
                  <a:srgbClr val="5D6769"/>
                </a:solidFill>
                <a:latin typeface="Arial" pitchFamily="34" charset="0"/>
                <a:ea typeface="Arial" pitchFamily="34" charset="-122"/>
                <a:cs typeface="Arial" pitchFamily="34" charset="-120"/>
              </a:rPr>
              <a:t>dólares</a:t>
            </a:r>
            <a:r>
              <a:rPr lang="en-US" sz="1300" dirty="0">
                <a:solidFill>
                  <a:srgbClr val="5D6769"/>
                </a:solidFill>
                <a:latin typeface="Arial" pitchFamily="34" charset="0"/>
                <a:ea typeface="Arial" pitchFamily="34" charset="-122"/>
                <a:cs typeface="Arial" pitchFamily="34" charset="-120"/>
              </a:rPr>
              <a:t>. Una vulnerabilidad en producción no es un bug más: es exposición regulatoria, reputacional y financiera.</a:t>
            </a:r>
            <a:endParaRPr lang="en-US" sz="1300" dirty="0"/>
          </a:p>
        </p:txBody>
      </p:sp>
      <p:sp>
        <p:nvSpPr>
          <p:cNvPr id="4" name="Shape 2"/>
          <p:cNvSpPr/>
          <p:nvPr/>
        </p:nvSpPr>
        <p:spPr>
          <a:xfrm>
            <a:off x="365760" y="1691640"/>
            <a:ext cx="2651760" cy="1463040"/>
          </a:xfrm>
          <a:prstGeom prst="roundRect">
            <a:avLst>
              <a:gd name="adj" fmla="val 6250"/>
            </a:avLst>
          </a:prstGeom>
          <a:solidFill>
            <a:srgbClr val="EFEFEF"/>
          </a:solidFill>
          <a:ln/>
        </p:spPr>
      </p:sp>
      <p:sp>
        <p:nvSpPr>
          <p:cNvPr id="5" name="Text 3"/>
          <p:cNvSpPr/>
          <p:nvPr/>
        </p:nvSpPr>
        <p:spPr>
          <a:xfrm>
            <a:off x="365760" y="1801368"/>
            <a:ext cx="2651760" cy="731520"/>
          </a:xfrm>
          <a:prstGeom prst="rect">
            <a:avLst/>
          </a:prstGeom>
          <a:noFill/>
          <a:ln/>
        </p:spPr>
        <p:txBody>
          <a:bodyPr wrap="square" lIns="0" tIns="0" rIns="0" bIns="0" rtlCol="0" anchor="ctr"/>
          <a:lstStyle/>
          <a:p>
            <a:pPr marL="0" indent="0" algn="ctr">
              <a:buNone/>
            </a:pPr>
            <a:r>
              <a:rPr lang="en-US" sz="3800" b="1" dirty="0">
                <a:solidFill>
                  <a:srgbClr val="D99100"/>
                </a:solidFill>
                <a:latin typeface="Arial" pitchFamily="34" charset="0"/>
                <a:ea typeface="Arial" pitchFamily="34" charset="-122"/>
                <a:cs typeface="Arial" pitchFamily="34" charset="-120"/>
              </a:rPr>
              <a:t>15x</a:t>
            </a:r>
            <a:endParaRPr lang="en-US" sz="3800" dirty="0"/>
          </a:p>
        </p:txBody>
      </p:sp>
      <p:sp>
        <p:nvSpPr>
          <p:cNvPr id="6" name="Text 4"/>
          <p:cNvSpPr/>
          <p:nvPr/>
        </p:nvSpPr>
        <p:spPr>
          <a:xfrm>
            <a:off x="502920" y="2542032"/>
            <a:ext cx="2377440" cy="548640"/>
          </a:xfrm>
          <a:prstGeom prst="rect">
            <a:avLst/>
          </a:prstGeom>
          <a:noFill/>
          <a:ln/>
        </p:spPr>
        <p:txBody>
          <a:bodyPr wrap="square" lIns="0" tIns="0" rIns="0" bIns="0" rtlCol="0" anchor="ctr"/>
          <a:lstStyle/>
          <a:p>
            <a:pPr marL="0" indent="0" algn="ctr">
              <a:buNone/>
            </a:pPr>
            <a:r>
              <a:rPr lang="en-US" sz="1100" dirty="0">
                <a:solidFill>
                  <a:srgbClr val="5D6769"/>
                </a:solidFill>
                <a:latin typeface="Arial" pitchFamily="34" charset="0"/>
                <a:ea typeface="Arial" pitchFamily="34" charset="-122"/>
                <a:cs typeface="Arial" pitchFamily="34" charset="-120"/>
              </a:rPr>
              <a:t>más caro corregir</a:t>
            </a:r>
            <a:endParaRPr lang="en-US" sz="1100" dirty="0"/>
          </a:p>
          <a:p>
            <a:pPr marL="0" indent="0" algn="ctr">
              <a:buNone/>
            </a:pPr>
            <a:r>
              <a:rPr lang="en-US" sz="1100" dirty="0">
                <a:solidFill>
                  <a:srgbClr val="5D6769"/>
                </a:solidFill>
                <a:latin typeface="Arial" pitchFamily="34" charset="0"/>
                <a:ea typeface="Arial" pitchFamily="34" charset="-122"/>
                <a:cs typeface="Arial" pitchFamily="34" charset="-120"/>
              </a:rPr>
              <a:t>un fallo en producción</a:t>
            </a:r>
            <a:endParaRPr lang="en-US" sz="1100" dirty="0"/>
          </a:p>
        </p:txBody>
      </p:sp>
      <p:sp>
        <p:nvSpPr>
          <p:cNvPr id="7" name="Shape 5"/>
          <p:cNvSpPr/>
          <p:nvPr/>
        </p:nvSpPr>
        <p:spPr>
          <a:xfrm>
            <a:off x="3227832" y="1691640"/>
            <a:ext cx="2651760" cy="1463040"/>
          </a:xfrm>
          <a:prstGeom prst="roundRect">
            <a:avLst>
              <a:gd name="adj" fmla="val 6250"/>
            </a:avLst>
          </a:prstGeom>
          <a:solidFill>
            <a:srgbClr val="EFEFEF"/>
          </a:solidFill>
          <a:ln/>
        </p:spPr>
      </p:sp>
      <p:sp>
        <p:nvSpPr>
          <p:cNvPr id="8" name="Text 6"/>
          <p:cNvSpPr/>
          <p:nvPr/>
        </p:nvSpPr>
        <p:spPr>
          <a:xfrm>
            <a:off x="3227832" y="1801368"/>
            <a:ext cx="2651760" cy="731520"/>
          </a:xfrm>
          <a:prstGeom prst="rect">
            <a:avLst/>
          </a:prstGeom>
          <a:noFill/>
          <a:ln/>
        </p:spPr>
        <p:txBody>
          <a:bodyPr wrap="square" lIns="0" tIns="0" rIns="0" bIns="0" rtlCol="0" anchor="ctr"/>
          <a:lstStyle/>
          <a:p>
            <a:pPr marL="0" indent="0" algn="ctr">
              <a:buNone/>
            </a:pPr>
            <a:r>
              <a:rPr lang="en-US" sz="3800" b="1" dirty="0">
                <a:solidFill>
                  <a:srgbClr val="D99100"/>
                </a:solidFill>
                <a:latin typeface="Arial" pitchFamily="34" charset="0"/>
                <a:ea typeface="Arial" pitchFamily="34" charset="-122"/>
                <a:cs typeface="Arial" pitchFamily="34" charset="-120"/>
              </a:rPr>
              <a:t>80%</a:t>
            </a:r>
            <a:endParaRPr lang="en-US" sz="3800" dirty="0"/>
          </a:p>
        </p:txBody>
      </p:sp>
      <p:sp>
        <p:nvSpPr>
          <p:cNvPr id="9" name="Text 7"/>
          <p:cNvSpPr/>
          <p:nvPr/>
        </p:nvSpPr>
        <p:spPr>
          <a:xfrm>
            <a:off x="3364992" y="2542032"/>
            <a:ext cx="2377440" cy="548640"/>
          </a:xfrm>
          <a:prstGeom prst="rect">
            <a:avLst/>
          </a:prstGeom>
          <a:noFill/>
          <a:ln/>
        </p:spPr>
        <p:txBody>
          <a:bodyPr wrap="square" lIns="0" tIns="0" rIns="0" bIns="0" rtlCol="0" anchor="ctr"/>
          <a:lstStyle/>
          <a:p>
            <a:pPr marL="0" indent="0" algn="ctr">
              <a:buNone/>
            </a:pPr>
            <a:r>
              <a:rPr lang="en-US" sz="1100" dirty="0">
                <a:solidFill>
                  <a:srgbClr val="5D6769"/>
                </a:solidFill>
                <a:latin typeface="Arial" pitchFamily="34" charset="0"/>
                <a:ea typeface="Arial" pitchFamily="34" charset="-122"/>
                <a:cs typeface="Arial" pitchFamily="34" charset="-120"/>
              </a:rPr>
              <a:t>de las vulnerabilidades</a:t>
            </a:r>
            <a:endParaRPr lang="en-US" sz="1100" dirty="0"/>
          </a:p>
          <a:p>
            <a:pPr marL="0" indent="0" algn="ctr">
              <a:buNone/>
            </a:pPr>
            <a:r>
              <a:rPr lang="en-US" sz="1100" dirty="0">
                <a:solidFill>
                  <a:srgbClr val="5D6769"/>
                </a:solidFill>
                <a:latin typeface="Arial" pitchFamily="34" charset="0"/>
                <a:ea typeface="Arial" pitchFamily="34" charset="-122"/>
                <a:cs typeface="Arial" pitchFamily="34" charset="-120"/>
              </a:rPr>
              <a:t>vienen de dependencias</a:t>
            </a:r>
            <a:endParaRPr lang="en-US" sz="1100" dirty="0"/>
          </a:p>
        </p:txBody>
      </p:sp>
      <p:sp>
        <p:nvSpPr>
          <p:cNvPr id="10" name="Shape 8"/>
          <p:cNvSpPr/>
          <p:nvPr/>
        </p:nvSpPr>
        <p:spPr>
          <a:xfrm>
            <a:off x="6089904" y="1691640"/>
            <a:ext cx="2651760" cy="1463040"/>
          </a:xfrm>
          <a:prstGeom prst="roundRect">
            <a:avLst>
              <a:gd name="adj" fmla="val 6250"/>
            </a:avLst>
          </a:prstGeom>
          <a:solidFill>
            <a:srgbClr val="EFEFEF"/>
          </a:solidFill>
          <a:ln/>
        </p:spPr>
      </p:sp>
      <p:sp>
        <p:nvSpPr>
          <p:cNvPr id="11" name="Text 9"/>
          <p:cNvSpPr/>
          <p:nvPr/>
        </p:nvSpPr>
        <p:spPr>
          <a:xfrm>
            <a:off x="6089904" y="1801368"/>
            <a:ext cx="2651760" cy="731520"/>
          </a:xfrm>
          <a:prstGeom prst="rect">
            <a:avLst/>
          </a:prstGeom>
          <a:noFill/>
          <a:ln/>
        </p:spPr>
        <p:txBody>
          <a:bodyPr wrap="square" lIns="0" tIns="0" rIns="0" bIns="0" rtlCol="0" anchor="ctr"/>
          <a:lstStyle/>
          <a:p>
            <a:pPr marL="0" indent="0" algn="ctr">
              <a:buNone/>
            </a:pPr>
            <a:r>
              <a:rPr lang="en-US" sz="3800" b="1" dirty="0">
                <a:solidFill>
                  <a:srgbClr val="D99100"/>
                </a:solidFill>
                <a:latin typeface="Arial" pitchFamily="34" charset="0"/>
                <a:ea typeface="Arial" pitchFamily="34" charset="-122"/>
                <a:cs typeface="Arial" pitchFamily="34" charset="-120"/>
              </a:rPr>
              <a:t>&lt; 5 min</a:t>
            </a:r>
            <a:endParaRPr lang="en-US" sz="3800" dirty="0"/>
          </a:p>
        </p:txBody>
      </p:sp>
      <p:sp>
        <p:nvSpPr>
          <p:cNvPr id="12" name="Text 10"/>
          <p:cNvSpPr/>
          <p:nvPr/>
        </p:nvSpPr>
        <p:spPr>
          <a:xfrm>
            <a:off x="6227064" y="2542032"/>
            <a:ext cx="2377440" cy="548640"/>
          </a:xfrm>
          <a:prstGeom prst="rect">
            <a:avLst/>
          </a:prstGeom>
          <a:noFill/>
          <a:ln/>
        </p:spPr>
        <p:txBody>
          <a:bodyPr wrap="square" lIns="0" tIns="0" rIns="0" bIns="0" rtlCol="0" anchor="ctr"/>
          <a:lstStyle/>
          <a:p>
            <a:pPr marL="0" indent="0" algn="ctr">
              <a:buNone/>
            </a:pPr>
            <a:r>
              <a:rPr lang="en-US" sz="1100" dirty="0">
                <a:solidFill>
                  <a:srgbClr val="5D6769"/>
                </a:solidFill>
                <a:latin typeface="Arial" pitchFamily="34" charset="0"/>
                <a:ea typeface="Arial" pitchFamily="34" charset="-122"/>
                <a:cs typeface="Arial" pitchFamily="34" charset="-120"/>
              </a:rPr>
              <a:t>es lo que tarda</a:t>
            </a:r>
            <a:endParaRPr lang="en-US" sz="1100" dirty="0"/>
          </a:p>
          <a:p>
            <a:pPr marL="0" indent="0" algn="ctr">
              <a:buNone/>
            </a:pPr>
            <a:r>
              <a:rPr lang="en-US" sz="1100" dirty="0">
                <a:solidFill>
                  <a:srgbClr val="5D6769"/>
                </a:solidFill>
                <a:latin typeface="Arial" pitchFamily="34" charset="0"/>
                <a:ea typeface="Arial" pitchFamily="34" charset="-122"/>
                <a:cs typeface="Arial" pitchFamily="34" charset="-120"/>
              </a:rPr>
              <a:t>un escaneo local</a:t>
            </a:r>
            <a:endParaRPr lang="en-US" sz="1100" dirty="0"/>
          </a:p>
        </p:txBody>
      </p:sp>
      <p:sp>
        <p:nvSpPr>
          <p:cNvPr id="13" name="Text 11"/>
          <p:cNvSpPr/>
          <p:nvPr/>
        </p:nvSpPr>
        <p:spPr>
          <a:xfrm>
            <a:off x="365760" y="3383280"/>
            <a:ext cx="8412480" cy="320040"/>
          </a:xfrm>
          <a:prstGeom prst="rect">
            <a:avLst/>
          </a:prstGeom>
          <a:noFill/>
          <a:ln/>
        </p:spPr>
        <p:txBody>
          <a:bodyPr wrap="square" lIns="0" tIns="0" rIns="0" bIns="0" rtlCol="0" anchor="ctr"/>
          <a:lstStyle/>
          <a:p>
            <a:pPr marL="0" indent="0" algn="l">
              <a:buNone/>
            </a:pPr>
            <a:r>
              <a:rPr lang="en-US" sz="1250" b="1" dirty="0">
                <a:solidFill>
                  <a:srgbClr val="D99100"/>
                </a:solidFill>
                <a:latin typeface="Arial" pitchFamily="34" charset="0"/>
                <a:ea typeface="Arial" pitchFamily="34" charset="-122"/>
                <a:cs typeface="Arial" pitchFamily="34" charset="-120"/>
              </a:rPr>
              <a:t>Shift Left  </a:t>
            </a:r>
            <a:r>
              <a:rPr lang="en-US" sz="1250" dirty="0">
                <a:solidFill>
                  <a:srgbClr val="5D6769"/>
                </a:solidFill>
                <a:latin typeface="Arial" pitchFamily="34" charset="0"/>
                <a:ea typeface="Arial" pitchFamily="34" charset="-122"/>
                <a:cs typeface="Arial" pitchFamily="34" charset="-120"/>
              </a:rPr>
              <a:t>— detectar y remediar lo más temprano posible cuesta menos y protege más</a:t>
            </a:r>
            <a:endParaRPr lang="en-US" sz="1250" dirty="0"/>
          </a:p>
        </p:txBody>
      </p:sp>
      <p:sp>
        <p:nvSpPr>
          <p:cNvPr id="14" name="Shape 12"/>
          <p:cNvSpPr/>
          <p:nvPr/>
        </p:nvSpPr>
        <p:spPr>
          <a:xfrm>
            <a:off x="365760" y="3794760"/>
            <a:ext cx="1554480" cy="713232"/>
          </a:xfrm>
          <a:prstGeom prst="roundRect">
            <a:avLst>
              <a:gd name="adj" fmla="val 7692"/>
            </a:avLst>
          </a:prstGeom>
          <a:solidFill>
            <a:srgbClr val="FAD380"/>
          </a:solidFill>
          <a:ln/>
        </p:spPr>
      </p:sp>
      <p:sp>
        <p:nvSpPr>
          <p:cNvPr id="15" name="Text 13"/>
          <p:cNvSpPr/>
          <p:nvPr/>
        </p:nvSpPr>
        <p:spPr>
          <a:xfrm>
            <a:off x="365760" y="3840480"/>
            <a:ext cx="1554480" cy="347472"/>
          </a:xfrm>
          <a:prstGeom prst="rect">
            <a:avLst/>
          </a:prstGeom>
          <a:noFill/>
          <a:ln/>
        </p:spPr>
        <p:txBody>
          <a:bodyPr wrap="square" lIns="0" tIns="0" rIns="0" bIns="0" rtlCol="0" anchor="b"/>
          <a:lstStyle/>
          <a:p>
            <a:pPr marL="0" indent="0" algn="ctr">
              <a:buNone/>
            </a:pPr>
            <a:r>
              <a:rPr lang="en-US" sz="1150" b="1" dirty="0">
                <a:solidFill>
                  <a:srgbClr val="212626"/>
                </a:solidFill>
                <a:latin typeface="Arial" pitchFamily="34" charset="0"/>
                <a:ea typeface="Arial" pitchFamily="34" charset="-122"/>
                <a:cs typeface="Arial" pitchFamily="34" charset="-120"/>
              </a:rPr>
              <a:t>DEV</a:t>
            </a:r>
            <a:endParaRPr lang="en-US" sz="1150" dirty="0"/>
          </a:p>
        </p:txBody>
      </p:sp>
      <p:sp>
        <p:nvSpPr>
          <p:cNvPr id="16" name="Text 14"/>
          <p:cNvSpPr/>
          <p:nvPr/>
        </p:nvSpPr>
        <p:spPr>
          <a:xfrm>
            <a:off x="365760" y="4160520"/>
            <a:ext cx="1554480" cy="292608"/>
          </a:xfrm>
          <a:prstGeom prst="rect">
            <a:avLst/>
          </a:prstGeom>
          <a:noFill/>
          <a:ln/>
        </p:spPr>
        <p:txBody>
          <a:bodyPr wrap="square" lIns="0" tIns="0" rIns="0" bIns="0" rtlCol="0" anchor="t"/>
          <a:lstStyle/>
          <a:p>
            <a:pPr marL="0" indent="0" algn="ctr">
              <a:buNone/>
            </a:pPr>
            <a:r>
              <a:rPr lang="en-US" sz="1150" b="1" dirty="0">
                <a:solidFill>
                  <a:srgbClr val="212626"/>
                </a:solidFill>
                <a:latin typeface="Arial" pitchFamily="34" charset="0"/>
                <a:ea typeface="Arial" pitchFamily="34" charset="-122"/>
                <a:cs typeface="Arial" pitchFamily="34" charset="-120"/>
              </a:rPr>
              <a:t>$</a:t>
            </a:r>
            <a:endParaRPr lang="en-US" sz="1150" dirty="0"/>
          </a:p>
        </p:txBody>
      </p:sp>
      <p:sp>
        <p:nvSpPr>
          <p:cNvPr id="17" name="Text 15"/>
          <p:cNvSpPr/>
          <p:nvPr/>
        </p:nvSpPr>
        <p:spPr>
          <a:xfrm>
            <a:off x="1920240" y="3794760"/>
            <a:ext cx="146304" cy="713232"/>
          </a:xfrm>
          <a:prstGeom prst="rect">
            <a:avLst/>
          </a:prstGeom>
          <a:noFill/>
          <a:ln/>
        </p:spPr>
        <p:txBody>
          <a:bodyPr wrap="square" lIns="0" tIns="0" rIns="0" bIns="0" rtlCol="0" anchor="ctr"/>
          <a:lstStyle/>
          <a:p>
            <a:pPr marL="0" indent="0" algn="ctr">
              <a:buNone/>
            </a:pPr>
            <a:r>
              <a:rPr lang="en-US" sz="1700" b="1" dirty="0">
                <a:solidFill>
                  <a:srgbClr val="5D6769"/>
                </a:solidFill>
              </a:rPr>
              <a:t>›</a:t>
            </a:r>
            <a:endParaRPr lang="en-US" sz="1700" dirty="0"/>
          </a:p>
        </p:txBody>
      </p:sp>
      <p:sp>
        <p:nvSpPr>
          <p:cNvPr id="18" name="Shape 16"/>
          <p:cNvSpPr/>
          <p:nvPr/>
        </p:nvSpPr>
        <p:spPr>
          <a:xfrm>
            <a:off x="2066544" y="3794760"/>
            <a:ext cx="1554480" cy="713232"/>
          </a:xfrm>
          <a:prstGeom prst="roundRect">
            <a:avLst>
              <a:gd name="adj" fmla="val 7692"/>
            </a:avLst>
          </a:prstGeom>
          <a:solidFill>
            <a:srgbClr val="F5A800"/>
          </a:solidFill>
          <a:ln/>
        </p:spPr>
      </p:sp>
      <p:sp>
        <p:nvSpPr>
          <p:cNvPr id="19" name="Text 17"/>
          <p:cNvSpPr/>
          <p:nvPr/>
        </p:nvSpPr>
        <p:spPr>
          <a:xfrm>
            <a:off x="2066544" y="3840480"/>
            <a:ext cx="1554480" cy="347472"/>
          </a:xfrm>
          <a:prstGeom prst="rect">
            <a:avLst/>
          </a:prstGeom>
          <a:noFill/>
          <a:ln/>
        </p:spPr>
        <p:txBody>
          <a:bodyPr wrap="square" lIns="0" tIns="0" rIns="0" bIns="0" rtlCol="0" anchor="b"/>
          <a:lstStyle/>
          <a:p>
            <a:pPr marL="0" indent="0" algn="ctr">
              <a:buNone/>
            </a:pPr>
            <a:r>
              <a:rPr lang="en-US" sz="1150" b="1" dirty="0">
                <a:solidFill>
                  <a:srgbClr val="212626"/>
                </a:solidFill>
                <a:latin typeface="Arial" pitchFamily="34" charset="0"/>
                <a:ea typeface="Arial" pitchFamily="34" charset="-122"/>
                <a:cs typeface="Arial" pitchFamily="34" charset="-120"/>
              </a:rPr>
              <a:t>CI / CD</a:t>
            </a:r>
            <a:endParaRPr lang="en-US" sz="1150" dirty="0"/>
          </a:p>
        </p:txBody>
      </p:sp>
      <p:sp>
        <p:nvSpPr>
          <p:cNvPr id="20" name="Text 18"/>
          <p:cNvSpPr/>
          <p:nvPr/>
        </p:nvSpPr>
        <p:spPr>
          <a:xfrm>
            <a:off x="2066544" y="4160520"/>
            <a:ext cx="1554480" cy="292608"/>
          </a:xfrm>
          <a:prstGeom prst="rect">
            <a:avLst/>
          </a:prstGeom>
          <a:noFill/>
          <a:ln/>
        </p:spPr>
        <p:txBody>
          <a:bodyPr wrap="square" lIns="0" tIns="0" rIns="0" bIns="0" rtlCol="0" anchor="t"/>
          <a:lstStyle/>
          <a:p>
            <a:pPr marL="0" indent="0" algn="ctr">
              <a:buNone/>
            </a:pPr>
            <a:r>
              <a:rPr lang="en-US" sz="1150" b="1" dirty="0">
                <a:solidFill>
                  <a:srgbClr val="212626"/>
                </a:solidFill>
                <a:latin typeface="Arial" pitchFamily="34" charset="0"/>
                <a:ea typeface="Arial" pitchFamily="34" charset="-122"/>
                <a:cs typeface="Arial" pitchFamily="34" charset="-120"/>
              </a:rPr>
              <a:t>$$</a:t>
            </a:r>
            <a:endParaRPr lang="en-US" sz="1150" dirty="0"/>
          </a:p>
        </p:txBody>
      </p:sp>
      <p:sp>
        <p:nvSpPr>
          <p:cNvPr id="21" name="Text 19"/>
          <p:cNvSpPr/>
          <p:nvPr/>
        </p:nvSpPr>
        <p:spPr>
          <a:xfrm>
            <a:off x="3621024" y="3794760"/>
            <a:ext cx="146304" cy="713232"/>
          </a:xfrm>
          <a:prstGeom prst="rect">
            <a:avLst/>
          </a:prstGeom>
          <a:noFill/>
          <a:ln/>
        </p:spPr>
        <p:txBody>
          <a:bodyPr wrap="square" lIns="0" tIns="0" rIns="0" bIns="0" rtlCol="0" anchor="ctr"/>
          <a:lstStyle/>
          <a:p>
            <a:pPr marL="0" indent="0" algn="ctr">
              <a:buNone/>
            </a:pPr>
            <a:r>
              <a:rPr lang="en-US" sz="1700" b="1" dirty="0">
                <a:solidFill>
                  <a:srgbClr val="5D6769"/>
                </a:solidFill>
              </a:rPr>
              <a:t>›</a:t>
            </a:r>
            <a:endParaRPr lang="en-US" sz="1700" dirty="0"/>
          </a:p>
        </p:txBody>
      </p:sp>
      <p:sp>
        <p:nvSpPr>
          <p:cNvPr id="22" name="Shape 20"/>
          <p:cNvSpPr/>
          <p:nvPr/>
        </p:nvSpPr>
        <p:spPr>
          <a:xfrm>
            <a:off x="3767328" y="3794760"/>
            <a:ext cx="1554480" cy="713232"/>
          </a:xfrm>
          <a:prstGeom prst="roundRect">
            <a:avLst>
              <a:gd name="adj" fmla="val 7692"/>
            </a:avLst>
          </a:prstGeom>
          <a:solidFill>
            <a:srgbClr val="F5A800"/>
          </a:solidFill>
          <a:ln/>
        </p:spPr>
      </p:sp>
      <p:sp>
        <p:nvSpPr>
          <p:cNvPr id="23" name="Text 21"/>
          <p:cNvSpPr/>
          <p:nvPr/>
        </p:nvSpPr>
        <p:spPr>
          <a:xfrm>
            <a:off x="3767328" y="3840480"/>
            <a:ext cx="1554480" cy="347472"/>
          </a:xfrm>
          <a:prstGeom prst="rect">
            <a:avLst/>
          </a:prstGeom>
          <a:noFill/>
          <a:ln/>
        </p:spPr>
        <p:txBody>
          <a:bodyPr wrap="square" lIns="0" tIns="0" rIns="0" bIns="0" rtlCol="0" anchor="b"/>
          <a:lstStyle/>
          <a:p>
            <a:pPr marL="0" indent="0" algn="ctr">
              <a:buNone/>
            </a:pPr>
            <a:r>
              <a:rPr lang="en-US" sz="1150" b="1" dirty="0">
                <a:solidFill>
                  <a:srgbClr val="FFFFFF"/>
                </a:solidFill>
                <a:latin typeface="Arial" pitchFamily="34" charset="0"/>
                <a:ea typeface="Arial" pitchFamily="34" charset="-122"/>
                <a:cs typeface="Arial" pitchFamily="34" charset="-120"/>
              </a:rPr>
              <a:t>QA</a:t>
            </a:r>
            <a:endParaRPr lang="en-US" sz="1150" dirty="0"/>
          </a:p>
        </p:txBody>
      </p:sp>
      <p:sp>
        <p:nvSpPr>
          <p:cNvPr id="24" name="Text 22"/>
          <p:cNvSpPr/>
          <p:nvPr/>
        </p:nvSpPr>
        <p:spPr>
          <a:xfrm>
            <a:off x="3767328" y="4160520"/>
            <a:ext cx="1554480" cy="292608"/>
          </a:xfrm>
          <a:prstGeom prst="rect">
            <a:avLst/>
          </a:prstGeom>
          <a:noFill/>
          <a:ln/>
        </p:spPr>
        <p:txBody>
          <a:bodyPr wrap="square" lIns="0" tIns="0" rIns="0" bIns="0" rtlCol="0" anchor="t"/>
          <a:lstStyle/>
          <a:p>
            <a:pPr marL="0" indent="0" algn="ctr">
              <a:buNone/>
            </a:pPr>
            <a:r>
              <a:rPr lang="en-US" sz="1150" b="1" dirty="0">
                <a:solidFill>
                  <a:srgbClr val="FFFFFF"/>
                </a:solidFill>
                <a:latin typeface="Arial" pitchFamily="34" charset="0"/>
                <a:ea typeface="Arial" pitchFamily="34" charset="-122"/>
                <a:cs typeface="Arial" pitchFamily="34" charset="-120"/>
              </a:rPr>
              <a:t>$$$</a:t>
            </a:r>
            <a:endParaRPr lang="en-US" sz="1150" dirty="0"/>
          </a:p>
        </p:txBody>
      </p:sp>
      <p:sp>
        <p:nvSpPr>
          <p:cNvPr id="25" name="Text 23"/>
          <p:cNvSpPr/>
          <p:nvPr/>
        </p:nvSpPr>
        <p:spPr>
          <a:xfrm>
            <a:off x="5321808" y="3794760"/>
            <a:ext cx="146304" cy="713232"/>
          </a:xfrm>
          <a:prstGeom prst="rect">
            <a:avLst/>
          </a:prstGeom>
          <a:noFill/>
          <a:ln/>
        </p:spPr>
        <p:txBody>
          <a:bodyPr wrap="square" lIns="0" tIns="0" rIns="0" bIns="0" rtlCol="0" anchor="ctr"/>
          <a:lstStyle/>
          <a:p>
            <a:pPr marL="0" indent="0" algn="ctr">
              <a:buNone/>
            </a:pPr>
            <a:r>
              <a:rPr lang="en-US" sz="1700" b="1" dirty="0">
                <a:solidFill>
                  <a:srgbClr val="5D6769"/>
                </a:solidFill>
              </a:rPr>
              <a:t>›</a:t>
            </a:r>
            <a:endParaRPr lang="en-US" sz="1700" dirty="0"/>
          </a:p>
        </p:txBody>
      </p:sp>
      <p:sp>
        <p:nvSpPr>
          <p:cNvPr id="26" name="Shape 24"/>
          <p:cNvSpPr/>
          <p:nvPr/>
        </p:nvSpPr>
        <p:spPr>
          <a:xfrm>
            <a:off x="5468112" y="3794760"/>
            <a:ext cx="1554480" cy="713232"/>
          </a:xfrm>
          <a:prstGeom prst="roundRect">
            <a:avLst>
              <a:gd name="adj" fmla="val 7692"/>
            </a:avLst>
          </a:prstGeom>
          <a:solidFill>
            <a:srgbClr val="D99100"/>
          </a:solidFill>
          <a:ln/>
        </p:spPr>
      </p:sp>
      <p:sp>
        <p:nvSpPr>
          <p:cNvPr id="27" name="Text 25"/>
          <p:cNvSpPr/>
          <p:nvPr/>
        </p:nvSpPr>
        <p:spPr>
          <a:xfrm>
            <a:off x="5468112" y="3840480"/>
            <a:ext cx="1554480" cy="347472"/>
          </a:xfrm>
          <a:prstGeom prst="rect">
            <a:avLst/>
          </a:prstGeom>
          <a:noFill/>
          <a:ln/>
        </p:spPr>
        <p:txBody>
          <a:bodyPr wrap="square" lIns="0" tIns="0" rIns="0" bIns="0" rtlCol="0" anchor="b"/>
          <a:lstStyle/>
          <a:p>
            <a:pPr marL="0" indent="0" algn="ctr">
              <a:buNone/>
            </a:pPr>
            <a:r>
              <a:rPr lang="en-US" sz="1150" b="1" dirty="0">
                <a:solidFill>
                  <a:srgbClr val="FFFFFF"/>
                </a:solidFill>
                <a:latin typeface="Arial" pitchFamily="34" charset="0"/>
                <a:ea typeface="Arial" pitchFamily="34" charset="-122"/>
                <a:cs typeface="Arial" pitchFamily="34" charset="-120"/>
              </a:rPr>
              <a:t>Staging</a:t>
            </a:r>
            <a:endParaRPr lang="en-US" sz="1150" dirty="0"/>
          </a:p>
        </p:txBody>
      </p:sp>
      <p:sp>
        <p:nvSpPr>
          <p:cNvPr id="28" name="Text 26"/>
          <p:cNvSpPr/>
          <p:nvPr/>
        </p:nvSpPr>
        <p:spPr>
          <a:xfrm>
            <a:off x="5468112" y="4160520"/>
            <a:ext cx="1554480" cy="292608"/>
          </a:xfrm>
          <a:prstGeom prst="rect">
            <a:avLst/>
          </a:prstGeom>
          <a:noFill/>
          <a:ln/>
        </p:spPr>
        <p:txBody>
          <a:bodyPr wrap="square" lIns="0" tIns="0" rIns="0" bIns="0" rtlCol="0" anchor="t"/>
          <a:lstStyle/>
          <a:p>
            <a:pPr marL="0" indent="0" algn="ctr">
              <a:buNone/>
            </a:pPr>
            <a:r>
              <a:rPr lang="en-US" sz="1150" b="1" dirty="0">
                <a:solidFill>
                  <a:srgbClr val="FFFFFF"/>
                </a:solidFill>
                <a:latin typeface="Arial" pitchFamily="34" charset="0"/>
                <a:ea typeface="Arial" pitchFamily="34" charset="-122"/>
                <a:cs typeface="Arial" pitchFamily="34" charset="-120"/>
              </a:rPr>
              <a:t>$$$$</a:t>
            </a:r>
            <a:endParaRPr lang="en-US" sz="1150" dirty="0"/>
          </a:p>
        </p:txBody>
      </p:sp>
      <p:sp>
        <p:nvSpPr>
          <p:cNvPr id="29" name="Text 27"/>
          <p:cNvSpPr/>
          <p:nvPr/>
        </p:nvSpPr>
        <p:spPr>
          <a:xfrm>
            <a:off x="7022592" y="3794760"/>
            <a:ext cx="146304" cy="713232"/>
          </a:xfrm>
          <a:prstGeom prst="rect">
            <a:avLst/>
          </a:prstGeom>
          <a:noFill/>
          <a:ln/>
        </p:spPr>
        <p:txBody>
          <a:bodyPr wrap="square" lIns="0" tIns="0" rIns="0" bIns="0" rtlCol="0" anchor="ctr"/>
          <a:lstStyle/>
          <a:p>
            <a:pPr marL="0" indent="0" algn="ctr">
              <a:buNone/>
            </a:pPr>
            <a:r>
              <a:rPr lang="en-US" sz="1700" b="1" dirty="0">
                <a:solidFill>
                  <a:srgbClr val="5D6769"/>
                </a:solidFill>
              </a:rPr>
              <a:t>›</a:t>
            </a:r>
            <a:endParaRPr lang="en-US" sz="1700" dirty="0"/>
          </a:p>
        </p:txBody>
      </p:sp>
      <p:sp>
        <p:nvSpPr>
          <p:cNvPr id="30" name="Shape 28"/>
          <p:cNvSpPr/>
          <p:nvPr/>
        </p:nvSpPr>
        <p:spPr>
          <a:xfrm>
            <a:off x="7168896" y="3794760"/>
            <a:ext cx="1554480" cy="713232"/>
          </a:xfrm>
          <a:prstGeom prst="roundRect">
            <a:avLst>
              <a:gd name="adj" fmla="val 7692"/>
            </a:avLst>
          </a:prstGeom>
          <a:solidFill>
            <a:srgbClr val="C0392B"/>
          </a:solidFill>
          <a:ln/>
        </p:spPr>
      </p:sp>
      <p:sp>
        <p:nvSpPr>
          <p:cNvPr id="31" name="Text 29"/>
          <p:cNvSpPr/>
          <p:nvPr/>
        </p:nvSpPr>
        <p:spPr>
          <a:xfrm>
            <a:off x="7168896" y="3840480"/>
            <a:ext cx="1554480" cy="347472"/>
          </a:xfrm>
          <a:prstGeom prst="rect">
            <a:avLst/>
          </a:prstGeom>
          <a:noFill/>
          <a:ln/>
        </p:spPr>
        <p:txBody>
          <a:bodyPr wrap="square" lIns="0" tIns="0" rIns="0" bIns="0" rtlCol="0" anchor="b"/>
          <a:lstStyle/>
          <a:p>
            <a:pPr marL="0" indent="0" algn="ctr">
              <a:buNone/>
            </a:pPr>
            <a:r>
              <a:rPr lang="en-US" sz="1150" b="1" dirty="0">
                <a:solidFill>
                  <a:srgbClr val="FFFFFF"/>
                </a:solidFill>
                <a:latin typeface="Arial" pitchFamily="34" charset="0"/>
                <a:ea typeface="Arial" pitchFamily="34" charset="-122"/>
                <a:cs typeface="Arial" pitchFamily="34" charset="-120"/>
              </a:rPr>
              <a:t>Producción</a:t>
            </a:r>
            <a:endParaRPr lang="en-US" sz="1150" dirty="0"/>
          </a:p>
        </p:txBody>
      </p:sp>
      <p:sp>
        <p:nvSpPr>
          <p:cNvPr id="32" name="Text 30"/>
          <p:cNvSpPr/>
          <p:nvPr/>
        </p:nvSpPr>
        <p:spPr>
          <a:xfrm>
            <a:off x="7168896" y="4160520"/>
            <a:ext cx="1554480" cy="292608"/>
          </a:xfrm>
          <a:prstGeom prst="rect">
            <a:avLst/>
          </a:prstGeom>
          <a:noFill/>
          <a:ln/>
        </p:spPr>
        <p:txBody>
          <a:bodyPr wrap="square" lIns="0" tIns="0" rIns="0" bIns="0" rtlCol="0" anchor="t"/>
          <a:lstStyle/>
          <a:p>
            <a:pPr marL="0" indent="0" algn="ctr">
              <a:buNone/>
            </a:pPr>
            <a:r>
              <a:rPr lang="en-US" sz="1150" b="1" dirty="0">
                <a:solidFill>
                  <a:srgbClr val="FFFFFF"/>
                </a:solidFill>
                <a:latin typeface="Arial" pitchFamily="34" charset="0"/>
                <a:ea typeface="Arial" pitchFamily="34" charset="-122"/>
                <a:cs typeface="Arial" pitchFamily="34" charset="-120"/>
              </a:rPr>
              <a:t>$$$$$</a:t>
            </a:r>
            <a:endParaRPr lang="en-US" sz="1150" dirty="0"/>
          </a:p>
        </p:txBody>
      </p:sp>
      <p:pic>
        <p:nvPicPr>
          <p:cNvPr id="33" name="Image 0" descr="preencoded.png"/>
          <p:cNvPicPr>
            <a:picLocks noChangeAspect="1"/>
          </p:cNvPicPr>
          <p:nvPr/>
        </p:nvPicPr>
        <p:blipFill>
          <a:blip r:embed="rId3"/>
          <a:stretch>
            <a:fillRect/>
          </a:stretch>
        </p:blipFill>
        <p:spPr>
          <a:xfrm>
            <a:off x="365760" y="4645152"/>
            <a:ext cx="960120" cy="178308"/>
          </a:xfrm>
          <a:prstGeom prst="rect">
            <a:avLst/>
          </a:prstGeom>
        </p:spPr>
      </p:pic>
      <p:sp>
        <p:nvSpPr>
          <p:cNvPr id="34" name="Text 31"/>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35" name="Text 32"/>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Qué cambia </a:t>
            </a:r>
            <a:r>
              <a:rPr lang="en-US" sz="2200" b="1" dirty="0">
                <a:solidFill>
                  <a:srgbClr val="D99100"/>
                </a:solidFill>
                <a:latin typeface="Arial" pitchFamily="34" charset="0"/>
                <a:ea typeface="Arial" pitchFamily="34" charset="-122"/>
                <a:cs typeface="Arial" pitchFamily="34" charset="-120"/>
              </a:rPr>
              <a:t>para ti</a:t>
            </a:r>
            <a:endParaRPr lang="en-US" sz="2200" dirty="0"/>
          </a:p>
        </p:txBody>
      </p:sp>
      <p:sp>
        <p:nvSpPr>
          <p:cNvPr id="3" name="Shape 1"/>
          <p:cNvSpPr/>
          <p:nvPr/>
        </p:nvSpPr>
        <p:spPr>
          <a:xfrm>
            <a:off x="411480" y="1051560"/>
            <a:ext cx="3977640" cy="3429000"/>
          </a:xfrm>
          <a:prstGeom prst="roundRect">
            <a:avLst>
              <a:gd name="adj" fmla="val 2667"/>
            </a:avLst>
          </a:prstGeom>
          <a:solidFill>
            <a:srgbClr val="FFFFFF"/>
          </a:solidFill>
          <a:ln w="12700">
            <a:solidFill>
              <a:srgbClr val="E0E0E0"/>
            </a:solidFill>
            <a:prstDash val="solid"/>
          </a:ln>
          <a:effectLst>
            <a:outerShdw blurRad="101600" dist="25400" dir="5400000" algn="bl" rotWithShape="0">
              <a:srgbClr val="212626">
                <a:alpha val="10000"/>
              </a:srgbClr>
            </a:outerShdw>
          </a:effectLst>
        </p:spPr>
      </p:sp>
      <p:sp>
        <p:nvSpPr>
          <p:cNvPr id="4" name="Shape 2"/>
          <p:cNvSpPr/>
          <p:nvPr/>
        </p:nvSpPr>
        <p:spPr>
          <a:xfrm>
            <a:off x="411480" y="1051560"/>
            <a:ext cx="3977640" cy="603504"/>
          </a:xfrm>
          <a:prstGeom prst="roundRect">
            <a:avLst>
              <a:gd name="adj" fmla="val 15152"/>
            </a:avLst>
          </a:prstGeom>
          <a:solidFill>
            <a:srgbClr val="EFEFEF"/>
          </a:solidFill>
          <a:ln/>
        </p:spPr>
      </p:sp>
      <p:sp>
        <p:nvSpPr>
          <p:cNvPr id="5" name="Shape 3"/>
          <p:cNvSpPr/>
          <p:nvPr/>
        </p:nvSpPr>
        <p:spPr>
          <a:xfrm>
            <a:off x="411480" y="1371600"/>
            <a:ext cx="3977640" cy="283464"/>
          </a:xfrm>
          <a:prstGeom prst="rect">
            <a:avLst/>
          </a:prstGeom>
          <a:solidFill>
            <a:srgbClr val="EFEFEF"/>
          </a:solidFill>
          <a:ln/>
        </p:spPr>
      </p:sp>
      <p:pic>
        <p:nvPicPr>
          <p:cNvPr id="6" name="Image 0" descr="preencoded.png"/>
          <p:cNvPicPr>
            <a:picLocks noChangeAspect="1"/>
          </p:cNvPicPr>
          <p:nvPr/>
        </p:nvPicPr>
        <p:blipFill>
          <a:blip r:embed="rId3"/>
          <a:stretch>
            <a:fillRect/>
          </a:stretch>
        </p:blipFill>
        <p:spPr>
          <a:xfrm>
            <a:off x="640080" y="1207008"/>
            <a:ext cx="292608" cy="292608"/>
          </a:xfrm>
          <a:prstGeom prst="rect">
            <a:avLst/>
          </a:prstGeom>
        </p:spPr>
      </p:pic>
      <p:sp>
        <p:nvSpPr>
          <p:cNvPr id="7" name="Text 4"/>
          <p:cNvSpPr/>
          <p:nvPr/>
        </p:nvSpPr>
        <p:spPr>
          <a:xfrm>
            <a:off x="1005840" y="1051560"/>
            <a:ext cx="3200400" cy="603504"/>
          </a:xfrm>
          <a:prstGeom prst="rect">
            <a:avLst/>
          </a:prstGeom>
          <a:noFill/>
          <a:ln/>
        </p:spPr>
        <p:txBody>
          <a:bodyPr wrap="square" lIns="0" tIns="0" rIns="0" bIns="0" rtlCol="0" anchor="ctr"/>
          <a:lstStyle/>
          <a:p>
            <a:pPr marL="0" indent="0" algn="l">
              <a:buNone/>
            </a:pPr>
            <a:r>
              <a:rPr lang="en-US" sz="1500" b="1" dirty="0">
                <a:solidFill>
                  <a:srgbClr val="5D6769"/>
                </a:solidFill>
                <a:latin typeface="Arial" pitchFamily="34" charset="0"/>
                <a:ea typeface="Arial" pitchFamily="34" charset="-122"/>
                <a:cs typeface="Arial" pitchFamily="34" charset="-120"/>
              </a:rPr>
              <a:t>Hoy</a:t>
            </a:r>
            <a:endParaRPr lang="en-US" sz="1500" dirty="0"/>
          </a:p>
        </p:txBody>
      </p:sp>
      <p:sp>
        <p:nvSpPr>
          <p:cNvPr id="8" name="Text 5"/>
          <p:cNvSpPr/>
          <p:nvPr/>
        </p:nvSpPr>
        <p:spPr>
          <a:xfrm>
            <a:off x="612648" y="1828800"/>
            <a:ext cx="320040" cy="411480"/>
          </a:xfrm>
          <a:prstGeom prst="rect">
            <a:avLst/>
          </a:prstGeom>
          <a:noFill/>
          <a:ln/>
        </p:spPr>
        <p:txBody>
          <a:bodyPr wrap="square" lIns="0" tIns="0" rIns="0" bIns="0" rtlCol="0" anchor="t"/>
          <a:lstStyle/>
          <a:p>
            <a:pPr marL="0" indent="0" algn="ctr">
              <a:buNone/>
            </a:pPr>
            <a:r>
              <a:rPr lang="en-US" sz="1300" b="1" dirty="0">
                <a:solidFill>
                  <a:srgbClr val="C0392B"/>
                </a:solidFill>
                <a:latin typeface="Arial" pitchFamily="34" charset="0"/>
                <a:ea typeface="Arial" pitchFamily="34" charset="-122"/>
                <a:cs typeface="Arial" pitchFamily="34" charset="-120"/>
              </a:rPr>
              <a:t>✕</a:t>
            </a:r>
            <a:endParaRPr lang="en-US" sz="1300" dirty="0"/>
          </a:p>
        </p:txBody>
      </p:sp>
      <p:sp>
        <p:nvSpPr>
          <p:cNvPr id="9" name="Text 6"/>
          <p:cNvSpPr/>
          <p:nvPr/>
        </p:nvSpPr>
        <p:spPr>
          <a:xfrm>
            <a:off x="960120" y="1828800"/>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El deploy sale aunque haya vulnerabilidades.</a:t>
            </a:r>
            <a:endParaRPr lang="en-US" sz="1050" dirty="0"/>
          </a:p>
        </p:txBody>
      </p:sp>
      <p:sp>
        <p:nvSpPr>
          <p:cNvPr id="10" name="Text 7"/>
          <p:cNvSpPr/>
          <p:nvPr/>
        </p:nvSpPr>
        <p:spPr>
          <a:xfrm>
            <a:off x="612648" y="2459736"/>
            <a:ext cx="320040" cy="411480"/>
          </a:xfrm>
          <a:prstGeom prst="rect">
            <a:avLst/>
          </a:prstGeom>
          <a:noFill/>
          <a:ln/>
        </p:spPr>
        <p:txBody>
          <a:bodyPr wrap="square" lIns="0" tIns="0" rIns="0" bIns="0" rtlCol="0" anchor="t"/>
          <a:lstStyle/>
          <a:p>
            <a:pPr marL="0" indent="0" algn="ctr">
              <a:buNone/>
            </a:pPr>
            <a:r>
              <a:rPr lang="en-US" sz="1300" b="1" dirty="0">
                <a:solidFill>
                  <a:srgbClr val="C0392B"/>
                </a:solidFill>
                <a:latin typeface="Arial" pitchFamily="34" charset="0"/>
                <a:ea typeface="Arial" pitchFamily="34" charset="-122"/>
                <a:cs typeface="Arial" pitchFamily="34" charset="-120"/>
              </a:rPr>
              <a:t>✕</a:t>
            </a:r>
            <a:endParaRPr lang="en-US" sz="1300" dirty="0"/>
          </a:p>
        </p:txBody>
      </p:sp>
      <p:sp>
        <p:nvSpPr>
          <p:cNvPr id="11" name="Text 8"/>
          <p:cNvSpPr/>
          <p:nvPr/>
        </p:nvSpPr>
        <p:spPr>
          <a:xfrm>
            <a:off x="960120" y="2459736"/>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La seguridad se revisa tarde, si acaso.</a:t>
            </a:r>
            <a:endParaRPr lang="en-US" sz="1050" dirty="0"/>
          </a:p>
        </p:txBody>
      </p:sp>
      <p:sp>
        <p:nvSpPr>
          <p:cNvPr id="12" name="Text 9"/>
          <p:cNvSpPr/>
          <p:nvPr/>
        </p:nvSpPr>
        <p:spPr>
          <a:xfrm>
            <a:off x="612648" y="3090672"/>
            <a:ext cx="320040" cy="411480"/>
          </a:xfrm>
          <a:prstGeom prst="rect">
            <a:avLst/>
          </a:prstGeom>
          <a:noFill/>
          <a:ln/>
        </p:spPr>
        <p:txBody>
          <a:bodyPr wrap="square" lIns="0" tIns="0" rIns="0" bIns="0" rtlCol="0" anchor="t"/>
          <a:lstStyle/>
          <a:p>
            <a:pPr marL="0" indent="0" algn="ctr">
              <a:buNone/>
            </a:pPr>
            <a:r>
              <a:rPr lang="en-US" sz="1300" b="1" dirty="0">
                <a:solidFill>
                  <a:srgbClr val="C0392B"/>
                </a:solidFill>
                <a:latin typeface="Arial" pitchFamily="34" charset="0"/>
                <a:ea typeface="Arial" pitchFamily="34" charset="-122"/>
                <a:cs typeface="Arial" pitchFamily="34" charset="-120"/>
              </a:rPr>
              <a:t>✕</a:t>
            </a:r>
            <a:endParaRPr lang="en-US" sz="1300" dirty="0"/>
          </a:p>
        </p:txBody>
      </p:sp>
      <p:sp>
        <p:nvSpPr>
          <p:cNvPr id="13" name="Text 10"/>
          <p:cNvSpPr/>
          <p:nvPr/>
        </p:nvSpPr>
        <p:spPr>
          <a:xfrm>
            <a:off x="960120" y="3090672"/>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Los hallazgos llegan después del release.</a:t>
            </a:r>
            <a:endParaRPr lang="en-US" sz="1050" dirty="0"/>
          </a:p>
        </p:txBody>
      </p:sp>
      <p:sp>
        <p:nvSpPr>
          <p:cNvPr id="14" name="Text 11"/>
          <p:cNvSpPr/>
          <p:nvPr/>
        </p:nvSpPr>
        <p:spPr>
          <a:xfrm>
            <a:off x="612648" y="3721608"/>
            <a:ext cx="320040" cy="411480"/>
          </a:xfrm>
          <a:prstGeom prst="rect">
            <a:avLst/>
          </a:prstGeom>
          <a:noFill/>
          <a:ln/>
        </p:spPr>
        <p:txBody>
          <a:bodyPr wrap="square" lIns="0" tIns="0" rIns="0" bIns="0" rtlCol="0" anchor="t"/>
          <a:lstStyle/>
          <a:p>
            <a:pPr marL="0" indent="0" algn="ctr">
              <a:buNone/>
            </a:pPr>
            <a:r>
              <a:rPr lang="en-US" sz="1300" b="1" dirty="0">
                <a:solidFill>
                  <a:srgbClr val="C0392B"/>
                </a:solidFill>
                <a:latin typeface="Arial" pitchFamily="34" charset="0"/>
                <a:ea typeface="Arial" pitchFamily="34" charset="-122"/>
                <a:cs typeface="Arial" pitchFamily="34" charset="-120"/>
              </a:rPr>
              <a:t>✕</a:t>
            </a:r>
            <a:endParaRPr lang="en-US" sz="1300" dirty="0"/>
          </a:p>
        </p:txBody>
      </p:sp>
      <p:sp>
        <p:nvSpPr>
          <p:cNvPr id="15" name="Text 12"/>
          <p:cNvSpPr/>
          <p:nvPr/>
        </p:nvSpPr>
        <p:spPr>
          <a:xfrm>
            <a:off x="960120" y="3721608"/>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Remediar en producción, bajo presión.</a:t>
            </a:r>
            <a:endParaRPr lang="en-US" sz="1050" dirty="0"/>
          </a:p>
        </p:txBody>
      </p:sp>
      <p:sp>
        <p:nvSpPr>
          <p:cNvPr id="16" name="Shape 13"/>
          <p:cNvSpPr/>
          <p:nvPr/>
        </p:nvSpPr>
        <p:spPr>
          <a:xfrm>
            <a:off x="4709160" y="1051560"/>
            <a:ext cx="3977640" cy="3429000"/>
          </a:xfrm>
          <a:prstGeom prst="roundRect">
            <a:avLst>
              <a:gd name="adj" fmla="val 2667"/>
            </a:avLst>
          </a:prstGeom>
          <a:solidFill>
            <a:srgbClr val="FFFFFF"/>
          </a:solidFill>
          <a:ln w="12700">
            <a:solidFill>
              <a:srgbClr val="E0E0E0"/>
            </a:solidFill>
            <a:prstDash val="solid"/>
          </a:ln>
          <a:effectLst>
            <a:outerShdw blurRad="101600" dist="25400" dir="5400000" algn="bl" rotWithShape="0">
              <a:srgbClr val="212626">
                <a:alpha val="10000"/>
              </a:srgbClr>
            </a:outerShdw>
          </a:effectLst>
        </p:spPr>
      </p:sp>
      <p:sp>
        <p:nvSpPr>
          <p:cNvPr id="17" name="Shape 14"/>
          <p:cNvSpPr/>
          <p:nvPr/>
        </p:nvSpPr>
        <p:spPr>
          <a:xfrm>
            <a:off x="4709160" y="1051560"/>
            <a:ext cx="3977640" cy="603504"/>
          </a:xfrm>
          <a:prstGeom prst="roundRect">
            <a:avLst>
              <a:gd name="adj" fmla="val 15152"/>
            </a:avLst>
          </a:prstGeom>
          <a:solidFill>
            <a:srgbClr val="F5A800"/>
          </a:solidFill>
          <a:ln/>
        </p:spPr>
      </p:sp>
      <p:sp>
        <p:nvSpPr>
          <p:cNvPr id="18" name="Shape 15"/>
          <p:cNvSpPr/>
          <p:nvPr/>
        </p:nvSpPr>
        <p:spPr>
          <a:xfrm>
            <a:off x="4709160" y="1371600"/>
            <a:ext cx="3977640" cy="283464"/>
          </a:xfrm>
          <a:prstGeom prst="rect">
            <a:avLst/>
          </a:prstGeom>
          <a:solidFill>
            <a:srgbClr val="F5A800"/>
          </a:solidFill>
          <a:ln/>
        </p:spPr>
      </p:sp>
      <p:pic>
        <p:nvPicPr>
          <p:cNvPr id="19" name="Image 1" descr="preencoded.png"/>
          <p:cNvPicPr>
            <a:picLocks noChangeAspect="1"/>
          </p:cNvPicPr>
          <p:nvPr/>
        </p:nvPicPr>
        <p:blipFill>
          <a:blip r:embed="rId4"/>
          <a:stretch>
            <a:fillRect/>
          </a:stretch>
        </p:blipFill>
        <p:spPr>
          <a:xfrm>
            <a:off x="4937760" y="1207008"/>
            <a:ext cx="292608" cy="292608"/>
          </a:xfrm>
          <a:prstGeom prst="rect">
            <a:avLst/>
          </a:prstGeom>
        </p:spPr>
      </p:pic>
      <p:sp>
        <p:nvSpPr>
          <p:cNvPr id="20" name="Text 16"/>
          <p:cNvSpPr/>
          <p:nvPr/>
        </p:nvSpPr>
        <p:spPr>
          <a:xfrm>
            <a:off x="5303520" y="1051560"/>
            <a:ext cx="3200400" cy="603504"/>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Con el quality gate</a:t>
            </a:r>
            <a:endParaRPr lang="en-US" sz="1500" dirty="0"/>
          </a:p>
        </p:txBody>
      </p:sp>
      <p:sp>
        <p:nvSpPr>
          <p:cNvPr id="21" name="Text 17"/>
          <p:cNvSpPr/>
          <p:nvPr/>
        </p:nvSpPr>
        <p:spPr>
          <a:xfrm>
            <a:off x="4910328" y="1828800"/>
            <a:ext cx="320040" cy="411480"/>
          </a:xfrm>
          <a:prstGeom prst="rect">
            <a:avLst/>
          </a:prstGeom>
          <a:noFill/>
          <a:ln/>
        </p:spPr>
        <p:txBody>
          <a:bodyPr wrap="square" lIns="0" tIns="0" rIns="0" bIns="0" rtlCol="0" anchor="t"/>
          <a:lstStyle/>
          <a:p>
            <a:pPr marL="0" indent="0" algn="ctr">
              <a:buNone/>
            </a:pPr>
            <a:r>
              <a:rPr lang="en-US" sz="1300" b="1" dirty="0">
                <a:solidFill>
                  <a:srgbClr val="1E8449"/>
                </a:solidFill>
                <a:latin typeface="Arial" pitchFamily="34" charset="0"/>
                <a:ea typeface="Arial" pitchFamily="34" charset="-122"/>
                <a:cs typeface="Arial" pitchFamily="34" charset="-120"/>
              </a:rPr>
              <a:t>✓</a:t>
            </a:r>
            <a:endParaRPr lang="en-US" sz="1300" dirty="0"/>
          </a:p>
        </p:txBody>
      </p:sp>
      <p:sp>
        <p:nvSpPr>
          <p:cNvPr id="22" name="Text 18"/>
          <p:cNvSpPr/>
          <p:nvPr/>
        </p:nvSpPr>
        <p:spPr>
          <a:xfrm>
            <a:off x="5257800" y="1828800"/>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Critical y High detienen la salida a producción.</a:t>
            </a:r>
            <a:endParaRPr lang="en-US" sz="1050" dirty="0"/>
          </a:p>
        </p:txBody>
      </p:sp>
      <p:sp>
        <p:nvSpPr>
          <p:cNvPr id="23" name="Text 19"/>
          <p:cNvSpPr/>
          <p:nvPr/>
        </p:nvSpPr>
        <p:spPr>
          <a:xfrm>
            <a:off x="4910328" y="2459736"/>
            <a:ext cx="320040" cy="411480"/>
          </a:xfrm>
          <a:prstGeom prst="rect">
            <a:avLst/>
          </a:prstGeom>
          <a:noFill/>
          <a:ln/>
        </p:spPr>
        <p:txBody>
          <a:bodyPr wrap="square" lIns="0" tIns="0" rIns="0" bIns="0" rtlCol="0" anchor="t"/>
          <a:lstStyle/>
          <a:p>
            <a:pPr marL="0" indent="0" algn="ctr">
              <a:buNone/>
            </a:pPr>
            <a:r>
              <a:rPr lang="en-US" sz="1300" b="1" dirty="0">
                <a:solidFill>
                  <a:srgbClr val="1E8449"/>
                </a:solidFill>
                <a:latin typeface="Arial" pitchFamily="34" charset="0"/>
                <a:ea typeface="Arial" pitchFamily="34" charset="-122"/>
                <a:cs typeface="Arial" pitchFamily="34" charset="-120"/>
              </a:rPr>
              <a:t>✓</a:t>
            </a:r>
            <a:endParaRPr lang="en-US" sz="1300" dirty="0"/>
          </a:p>
        </p:txBody>
      </p:sp>
      <p:sp>
        <p:nvSpPr>
          <p:cNvPr id="24" name="Text 20"/>
          <p:cNvSpPr/>
          <p:nvPr/>
        </p:nvSpPr>
        <p:spPr>
          <a:xfrm>
            <a:off x="5257800" y="2459736"/>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Escaneas desde tu IDE, antes del commit.</a:t>
            </a:r>
            <a:endParaRPr lang="en-US" sz="1050" dirty="0"/>
          </a:p>
        </p:txBody>
      </p:sp>
      <p:sp>
        <p:nvSpPr>
          <p:cNvPr id="25" name="Text 21"/>
          <p:cNvSpPr/>
          <p:nvPr/>
        </p:nvSpPr>
        <p:spPr>
          <a:xfrm>
            <a:off x="4910328" y="3090672"/>
            <a:ext cx="320040" cy="411480"/>
          </a:xfrm>
          <a:prstGeom prst="rect">
            <a:avLst/>
          </a:prstGeom>
          <a:noFill/>
          <a:ln/>
        </p:spPr>
        <p:txBody>
          <a:bodyPr wrap="square" lIns="0" tIns="0" rIns="0" bIns="0" rtlCol="0" anchor="t"/>
          <a:lstStyle/>
          <a:p>
            <a:pPr marL="0" indent="0" algn="ctr">
              <a:buNone/>
            </a:pPr>
            <a:r>
              <a:rPr lang="en-US" sz="1300" b="1" dirty="0">
                <a:solidFill>
                  <a:srgbClr val="1E8449"/>
                </a:solidFill>
                <a:latin typeface="Arial" pitchFamily="34" charset="0"/>
                <a:ea typeface="Arial" pitchFamily="34" charset="-122"/>
                <a:cs typeface="Arial" pitchFamily="34" charset="-120"/>
              </a:rPr>
              <a:t>✓</a:t>
            </a:r>
            <a:endParaRPr lang="en-US" sz="1300" dirty="0"/>
          </a:p>
        </p:txBody>
      </p:sp>
      <p:sp>
        <p:nvSpPr>
          <p:cNvPr id="26" name="Text 22"/>
          <p:cNvSpPr/>
          <p:nvPr/>
        </p:nvSpPr>
        <p:spPr>
          <a:xfrm>
            <a:off x="5257800" y="3090672"/>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Los hallazgos llegan mientras programas.</a:t>
            </a:r>
            <a:endParaRPr lang="en-US" sz="1050" dirty="0"/>
          </a:p>
        </p:txBody>
      </p:sp>
      <p:sp>
        <p:nvSpPr>
          <p:cNvPr id="27" name="Text 23"/>
          <p:cNvSpPr/>
          <p:nvPr/>
        </p:nvSpPr>
        <p:spPr>
          <a:xfrm>
            <a:off x="4910328" y="3721608"/>
            <a:ext cx="320040" cy="411480"/>
          </a:xfrm>
          <a:prstGeom prst="rect">
            <a:avLst/>
          </a:prstGeom>
          <a:noFill/>
          <a:ln/>
        </p:spPr>
        <p:txBody>
          <a:bodyPr wrap="square" lIns="0" tIns="0" rIns="0" bIns="0" rtlCol="0" anchor="t"/>
          <a:lstStyle/>
          <a:p>
            <a:pPr marL="0" indent="0" algn="ctr">
              <a:buNone/>
            </a:pPr>
            <a:r>
              <a:rPr lang="en-US" sz="1300" b="1" dirty="0">
                <a:solidFill>
                  <a:srgbClr val="1E8449"/>
                </a:solidFill>
                <a:latin typeface="Arial" pitchFamily="34" charset="0"/>
                <a:ea typeface="Arial" pitchFamily="34" charset="-122"/>
                <a:cs typeface="Arial" pitchFamily="34" charset="-120"/>
              </a:rPr>
              <a:t>✓</a:t>
            </a:r>
            <a:endParaRPr lang="en-US" sz="1300" dirty="0"/>
          </a:p>
        </p:txBody>
      </p:sp>
      <p:sp>
        <p:nvSpPr>
          <p:cNvPr id="28" name="Text 24"/>
          <p:cNvSpPr/>
          <p:nvPr/>
        </p:nvSpPr>
        <p:spPr>
          <a:xfrm>
            <a:off x="5257800" y="3721608"/>
            <a:ext cx="3246120" cy="566928"/>
          </a:xfrm>
          <a:prstGeom prst="rect">
            <a:avLst/>
          </a:prstGeom>
          <a:noFill/>
          <a:ln/>
        </p:spPr>
        <p:txBody>
          <a:bodyPr wrap="square" lIns="0" tIns="0" rIns="0" bIns="0" rtlCol="0" anchor="t"/>
          <a:lstStyle/>
          <a:p>
            <a:pPr marL="0" indent="0" algn="l">
              <a:buNone/>
            </a:pPr>
            <a:r>
              <a:rPr lang="en-US" sz="1050" dirty="0">
                <a:solidFill>
                  <a:srgbClr val="212626"/>
                </a:solidFill>
                <a:latin typeface="Arial" pitchFamily="34" charset="0"/>
                <a:ea typeface="Arial" pitchFamily="34" charset="-122"/>
                <a:cs typeface="Arial" pitchFamily="34" charset="-120"/>
              </a:rPr>
              <a:t>Remediar en DEV, en tu propio ritmo.</a:t>
            </a:r>
            <a:endParaRPr lang="en-US" sz="1050" dirty="0"/>
          </a:p>
        </p:txBody>
      </p:sp>
      <p:pic>
        <p:nvPicPr>
          <p:cNvPr id="29" name="Image 2" descr="preencoded.png"/>
          <p:cNvPicPr>
            <a:picLocks noChangeAspect="1"/>
          </p:cNvPicPr>
          <p:nvPr/>
        </p:nvPicPr>
        <p:blipFill>
          <a:blip r:embed="rId5"/>
          <a:stretch>
            <a:fillRect/>
          </a:stretch>
        </p:blipFill>
        <p:spPr>
          <a:xfrm>
            <a:off x="365760" y="4645152"/>
            <a:ext cx="960120" cy="178308"/>
          </a:xfrm>
          <a:prstGeom prst="rect">
            <a:avLst/>
          </a:prstGeom>
        </p:spPr>
      </p:pic>
      <p:sp>
        <p:nvSpPr>
          <p:cNvPr id="30" name="Text 25"/>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31" name="Text 26"/>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5349240" y="-731520"/>
            <a:ext cx="4206240" cy="5852160"/>
          </a:xfrm>
          <a:prstGeom prst="rect">
            <a:avLst/>
          </a:prstGeom>
        </p:spPr>
      </p:pic>
      <p:sp>
        <p:nvSpPr>
          <p:cNvPr id="3" name="Text 0"/>
          <p:cNvSpPr/>
          <p:nvPr/>
        </p:nvSpPr>
        <p:spPr>
          <a:xfrm>
            <a:off x="457200" y="1234440"/>
            <a:ext cx="1828800" cy="822960"/>
          </a:xfrm>
          <a:prstGeom prst="rect">
            <a:avLst/>
          </a:prstGeom>
          <a:noFill/>
          <a:ln/>
        </p:spPr>
        <p:txBody>
          <a:bodyPr wrap="square" lIns="0" tIns="0" rIns="0" bIns="0" rtlCol="0" anchor="ctr"/>
          <a:lstStyle/>
          <a:p>
            <a:pPr marL="0" indent="0" algn="l">
              <a:buNone/>
            </a:pPr>
            <a:r>
              <a:rPr lang="en-US" sz="5000" b="1" dirty="0">
                <a:solidFill>
                  <a:srgbClr val="F5A800"/>
                </a:solidFill>
                <a:latin typeface="Arial" pitchFamily="34" charset="0"/>
                <a:ea typeface="Arial" pitchFamily="34" charset="-122"/>
                <a:cs typeface="Arial" pitchFamily="34" charset="-120"/>
              </a:rPr>
              <a:t>01</a:t>
            </a:r>
            <a:endParaRPr lang="en-US" sz="5000" dirty="0"/>
          </a:p>
        </p:txBody>
      </p:sp>
      <p:sp>
        <p:nvSpPr>
          <p:cNvPr id="4" name="Text 1"/>
          <p:cNvSpPr/>
          <p:nvPr/>
        </p:nvSpPr>
        <p:spPr>
          <a:xfrm>
            <a:off x="457200" y="2103120"/>
            <a:ext cx="4754880" cy="914400"/>
          </a:xfrm>
          <a:prstGeom prst="rect">
            <a:avLst/>
          </a:prstGeom>
          <a:noFill/>
          <a:ln/>
        </p:spPr>
        <p:txBody>
          <a:bodyPr wrap="square" lIns="0" tIns="0" rIns="0" bIns="0" rtlCol="0" anchor="ctr"/>
          <a:lstStyle/>
          <a:p>
            <a:pPr marL="0" indent="0" algn="l">
              <a:buNone/>
            </a:pPr>
            <a:r>
              <a:rPr lang="en-US" sz="2800" b="1" dirty="0">
                <a:solidFill>
                  <a:srgbClr val="212626"/>
                </a:solidFill>
                <a:latin typeface="Arial" pitchFamily="34" charset="0"/>
                <a:ea typeface="Arial" pitchFamily="34" charset="-122"/>
                <a:cs typeface="Arial" pitchFamily="34" charset="-120"/>
              </a:rPr>
              <a:t>Las capas que</a:t>
            </a:r>
            <a:endParaRPr lang="en-US" sz="2800" dirty="0"/>
          </a:p>
          <a:p>
            <a:pPr marL="0" indent="0" algn="l">
              <a:buNone/>
            </a:pPr>
            <a:r>
              <a:rPr lang="en-US" sz="2800" b="1" dirty="0">
                <a:solidFill>
                  <a:srgbClr val="212626"/>
                </a:solidFill>
                <a:latin typeface="Arial" pitchFamily="34" charset="0"/>
                <a:ea typeface="Arial" pitchFamily="34" charset="-122"/>
                <a:cs typeface="Arial" pitchFamily="34" charset="-120"/>
              </a:rPr>
              <a:t>nos protegen</a:t>
            </a:r>
            <a:endParaRPr lang="en-US" sz="2800" dirty="0"/>
          </a:p>
        </p:txBody>
      </p:sp>
      <p:sp>
        <p:nvSpPr>
          <p:cNvPr id="5" name="Text 2"/>
          <p:cNvSpPr/>
          <p:nvPr/>
        </p:nvSpPr>
        <p:spPr>
          <a:xfrm>
            <a:off x="457200" y="3063240"/>
            <a:ext cx="4480560" cy="822960"/>
          </a:xfrm>
          <a:prstGeom prst="rect">
            <a:avLst/>
          </a:prstGeom>
          <a:noFill/>
          <a:ln/>
        </p:spPr>
        <p:txBody>
          <a:bodyPr wrap="square" lIns="0" tIns="0" rIns="0" bIns="0" rtlCol="0" anchor="ctr"/>
          <a:lstStyle/>
          <a:p>
            <a:pPr marL="0" indent="0" algn="l">
              <a:buNone/>
            </a:pPr>
            <a:r>
              <a:rPr lang="en-US" sz="1300" dirty="0">
                <a:solidFill>
                  <a:srgbClr val="5D6769"/>
                </a:solidFill>
                <a:latin typeface="Arial" pitchFamily="34" charset="0"/>
                <a:ea typeface="Arial" pitchFamily="34" charset="-122"/>
                <a:cs typeface="Arial" pitchFamily="34" charset="-120"/>
              </a:rPr>
              <a:t>Cinco análisis automatizados con Snyk, más un pentest manual de Ciberinteligencia.</a:t>
            </a:r>
            <a:endParaRPr lang="en-US" sz="1300" dirty="0"/>
          </a:p>
        </p:txBody>
      </p:sp>
      <p:pic>
        <p:nvPicPr>
          <p:cNvPr id="6" name="Image 1" descr="preencoded.png"/>
          <p:cNvPicPr>
            <a:picLocks noChangeAspect="1"/>
          </p:cNvPicPr>
          <p:nvPr/>
        </p:nvPicPr>
        <p:blipFill>
          <a:blip r:embed="rId4"/>
          <a:stretch>
            <a:fillRect/>
          </a:stretch>
        </p:blipFill>
        <p:spPr>
          <a:xfrm>
            <a:off x="365760" y="4645152"/>
            <a:ext cx="960120" cy="1783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Defensa </a:t>
            </a:r>
            <a:r>
              <a:rPr lang="en-US" sz="2200" b="1" dirty="0">
                <a:solidFill>
                  <a:srgbClr val="D99100"/>
                </a:solidFill>
                <a:latin typeface="Arial" pitchFamily="34" charset="0"/>
                <a:ea typeface="Arial" pitchFamily="34" charset="-122"/>
                <a:cs typeface="Arial" pitchFamily="34" charset="-120"/>
              </a:rPr>
              <a:t>en capas</a:t>
            </a:r>
            <a:endParaRPr lang="en-US" sz="2200" dirty="0"/>
          </a:p>
        </p:txBody>
      </p:sp>
      <p:sp>
        <p:nvSpPr>
          <p:cNvPr id="3" name="Shape 1"/>
          <p:cNvSpPr/>
          <p:nvPr/>
        </p:nvSpPr>
        <p:spPr>
          <a:xfrm>
            <a:off x="365760" y="1051560"/>
            <a:ext cx="1965960" cy="1920240"/>
          </a:xfrm>
          <a:prstGeom prst="roundRect">
            <a:avLst>
              <a:gd name="adj" fmla="val 4762"/>
            </a:avLst>
          </a:prstGeom>
          <a:solidFill>
            <a:srgbClr val="EFEFEF"/>
          </a:solidFill>
          <a:ln/>
        </p:spPr>
      </p:sp>
      <p:sp>
        <p:nvSpPr>
          <p:cNvPr id="4" name="Shape 2"/>
          <p:cNvSpPr/>
          <p:nvPr/>
        </p:nvSpPr>
        <p:spPr>
          <a:xfrm>
            <a:off x="1024128" y="1207008"/>
            <a:ext cx="658368" cy="658368"/>
          </a:xfrm>
          <a:prstGeom prst="ellipse">
            <a:avLst/>
          </a:prstGeom>
          <a:solidFill>
            <a:srgbClr val="F5A800"/>
          </a:solidFill>
          <a:ln/>
        </p:spPr>
      </p:sp>
      <p:pic>
        <p:nvPicPr>
          <p:cNvPr id="5" name="Image 0" descr="preencoded.png"/>
          <p:cNvPicPr>
            <a:picLocks noChangeAspect="1"/>
          </p:cNvPicPr>
          <p:nvPr/>
        </p:nvPicPr>
        <p:blipFill>
          <a:blip r:embed="rId3"/>
          <a:stretch>
            <a:fillRect/>
          </a:stretch>
        </p:blipFill>
        <p:spPr>
          <a:xfrm>
            <a:off x="1179576" y="1362456"/>
            <a:ext cx="347472" cy="347472"/>
          </a:xfrm>
          <a:prstGeom prst="rect">
            <a:avLst/>
          </a:prstGeom>
        </p:spPr>
      </p:pic>
      <p:sp>
        <p:nvSpPr>
          <p:cNvPr id="6" name="Text 3"/>
          <p:cNvSpPr/>
          <p:nvPr/>
        </p:nvSpPr>
        <p:spPr>
          <a:xfrm>
            <a:off x="365760" y="1938528"/>
            <a:ext cx="1965960" cy="310896"/>
          </a:xfrm>
          <a:prstGeom prst="rect">
            <a:avLst/>
          </a:prstGeom>
          <a:noFill/>
          <a:ln/>
        </p:spPr>
        <p:txBody>
          <a:bodyPr wrap="square" lIns="0" tIns="0" rIns="0" bIns="0" rtlCol="0" anchor="ctr"/>
          <a:lstStyle/>
          <a:p>
            <a:pPr marL="0" indent="0" algn="ctr">
              <a:buNone/>
            </a:pPr>
            <a:r>
              <a:rPr lang="en-US" sz="1500" b="1" dirty="0">
                <a:solidFill>
                  <a:srgbClr val="212626"/>
                </a:solidFill>
                <a:latin typeface="Arial" pitchFamily="34" charset="0"/>
                <a:ea typeface="Arial" pitchFamily="34" charset="-122"/>
                <a:cs typeface="Arial" pitchFamily="34" charset="-120"/>
              </a:rPr>
              <a:t>SCA</a:t>
            </a:r>
            <a:endParaRPr lang="en-US" sz="1500" dirty="0"/>
          </a:p>
        </p:txBody>
      </p:sp>
      <p:sp>
        <p:nvSpPr>
          <p:cNvPr id="7" name="Text 4"/>
          <p:cNvSpPr/>
          <p:nvPr/>
        </p:nvSpPr>
        <p:spPr>
          <a:xfrm>
            <a:off x="484632" y="2249424"/>
            <a:ext cx="1737360" cy="548640"/>
          </a:xfrm>
          <a:prstGeom prst="rect">
            <a:avLst/>
          </a:prstGeom>
          <a:noFill/>
          <a:ln/>
        </p:spPr>
        <p:txBody>
          <a:bodyPr wrap="square" lIns="0" tIns="0" rIns="0" bIns="0" rtlCol="0" anchor="t"/>
          <a:lstStyle/>
          <a:p>
            <a:pPr marL="0" indent="0" algn="ctr">
              <a:buNone/>
            </a:pPr>
            <a:r>
              <a:rPr lang="en-US" sz="900" dirty="0">
                <a:solidFill>
                  <a:srgbClr val="5D6769"/>
                </a:solidFill>
                <a:latin typeface="Arial" pitchFamily="34" charset="0"/>
                <a:ea typeface="Arial" pitchFamily="34" charset="-122"/>
                <a:cs typeface="Arial" pitchFamily="34" charset="-120"/>
              </a:rPr>
              <a:t>Vulnerabilidades en dependencias de terceros.</a:t>
            </a:r>
            <a:endParaRPr lang="en-US" sz="900" dirty="0"/>
          </a:p>
        </p:txBody>
      </p:sp>
      <p:sp>
        <p:nvSpPr>
          <p:cNvPr id="8" name="Text 5"/>
          <p:cNvSpPr/>
          <p:nvPr/>
        </p:nvSpPr>
        <p:spPr>
          <a:xfrm>
            <a:off x="365760" y="2743200"/>
            <a:ext cx="1965960" cy="201168"/>
          </a:xfrm>
          <a:prstGeom prst="rect">
            <a:avLst/>
          </a:prstGeom>
          <a:noFill/>
          <a:ln/>
        </p:spPr>
        <p:txBody>
          <a:bodyPr wrap="square" lIns="0" tIns="0" rIns="0" bIns="0" rtlCol="0" anchor="ctr"/>
          <a:lstStyle/>
          <a:p>
            <a:pPr marL="0" indent="0" algn="ctr">
              <a:buNone/>
            </a:pPr>
            <a:r>
              <a:rPr lang="en-US" sz="850" b="1" i="1" dirty="0">
                <a:solidFill>
                  <a:srgbClr val="D99100"/>
                </a:solidFill>
                <a:latin typeface="Arial" pitchFamily="34" charset="0"/>
                <a:ea typeface="Arial" pitchFamily="34" charset="-122"/>
                <a:cs typeface="Arial" pitchFamily="34" charset="-120"/>
              </a:rPr>
              <a:t>Snyk</a:t>
            </a:r>
            <a:endParaRPr lang="en-US" sz="850" dirty="0"/>
          </a:p>
        </p:txBody>
      </p:sp>
      <p:sp>
        <p:nvSpPr>
          <p:cNvPr id="9" name="Shape 6"/>
          <p:cNvSpPr/>
          <p:nvPr/>
        </p:nvSpPr>
        <p:spPr>
          <a:xfrm>
            <a:off x="2505456" y="1051560"/>
            <a:ext cx="1965960" cy="1920240"/>
          </a:xfrm>
          <a:prstGeom prst="roundRect">
            <a:avLst>
              <a:gd name="adj" fmla="val 4762"/>
            </a:avLst>
          </a:prstGeom>
          <a:solidFill>
            <a:srgbClr val="EFEFEF"/>
          </a:solidFill>
          <a:ln/>
        </p:spPr>
      </p:sp>
      <p:sp>
        <p:nvSpPr>
          <p:cNvPr id="10" name="Shape 7"/>
          <p:cNvSpPr/>
          <p:nvPr/>
        </p:nvSpPr>
        <p:spPr>
          <a:xfrm>
            <a:off x="3163824" y="1207008"/>
            <a:ext cx="658368" cy="658368"/>
          </a:xfrm>
          <a:prstGeom prst="ellipse">
            <a:avLst/>
          </a:prstGeom>
          <a:solidFill>
            <a:srgbClr val="F5A800"/>
          </a:solidFill>
          <a:ln/>
        </p:spPr>
      </p:sp>
      <p:pic>
        <p:nvPicPr>
          <p:cNvPr id="11" name="Image 1" descr="preencoded.png"/>
          <p:cNvPicPr>
            <a:picLocks noChangeAspect="1"/>
          </p:cNvPicPr>
          <p:nvPr/>
        </p:nvPicPr>
        <p:blipFill>
          <a:blip r:embed="rId4"/>
          <a:stretch>
            <a:fillRect/>
          </a:stretch>
        </p:blipFill>
        <p:spPr>
          <a:xfrm>
            <a:off x="3319272" y="1362456"/>
            <a:ext cx="347472" cy="347472"/>
          </a:xfrm>
          <a:prstGeom prst="rect">
            <a:avLst/>
          </a:prstGeom>
        </p:spPr>
      </p:pic>
      <p:sp>
        <p:nvSpPr>
          <p:cNvPr id="12" name="Text 8"/>
          <p:cNvSpPr/>
          <p:nvPr/>
        </p:nvSpPr>
        <p:spPr>
          <a:xfrm>
            <a:off x="2505456" y="1938528"/>
            <a:ext cx="1965960" cy="310896"/>
          </a:xfrm>
          <a:prstGeom prst="rect">
            <a:avLst/>
          </a:prstGeom>
          <a:noFill/>
          <a:ln/>
        </p:spPr>
        <p:txBody>
          <a:bodyPr wrap="square" lIns="0" tIns="0" rIns="0" bIns="0" rtlCol="0" anchor="ctr"/>
          <a:lstStyle/>
          <a:p>
            <a:pPr marL="0" indent="0" algn="ctr">
              <a:buNone/>
            </a:pPr>
            <a:r>
              <a:rPr lang="en-US" sz="1500" b="1" dirty="0">
                <a:solidFill>
                  <a:srgbClr val="212626"/>
                </a:solidFill>
                <a:latin typeface="Arial" pitchFamily="34" charset="0"/>
                <a:ea typeface="Arial" pitchFamily="34" charset="-122"/>
                <a:cs typeface="Arial" pitchFamily="34" charset="-120"/>
              </a:rPr>
              <a:t>SAST</a:t>
            </a:r>
            <a:endParaRPr lang="en-US" sz="1500" dirty="0"/>
          </a:p>
        </p:txBody>
      </p:sp>
      <p:sp>
        <p:nvSpPr>
          <p:cNvPr id="13" name="Text 9"/>
          <p:cNvSpPr/>
          <p:nvPr/>
        </p:nvSpPr>
        <p:spPr>
          <a:xfrm>
            <a:off x="2624328" y="2249424"/>
            <a:ext cx="1737360" cy="548640"/>
          </a:xfrm>
          <a:prstGeom prst="rect">
            <a:avLst/>
          </a:prstGeom>
          <a:noFill/>
          <a:ln/>
        </p:spPr>
        <p:txBody>
          <a:bodyPr wrap="square" lIns="0" tIns="0" rIns="0" bIns="0" rtlCol="0" anchor="t"/>
          <a:lstStyle/>
          <a:p>
            <a:pPr marL="0" indent="0" algn="ctr">
              <a:buNone/>
            </a:pPr>
            <a:r>
              <a:rPr lang="en-US" sz="900" dirty="0">
                <a:solidFill>
                  <a:srgbClr val="5D6769"/>
                </a:solidFill>
                <a:latin typeface="Arial" pitchFamily="34" charset="0"/>
                <a:ea typeface="Arial" pitchFamily="34" charset="-122"/>
                <a:cs typeface="Arial" pitchFamily="34" charset="-120"/>
              </a:rPr>
              <a:t>Análisis estático de tu código fuente.</a:t>
            </a:r>
            <a:endParaRPr lang="en-US" sz="900" dirty="0"/>
          </a:p>
        </p:txBody>
      </p:sp>
      <p:sp>
        <p:nvSpPr>
          <p:cNvPr id="14" name="Text 10"/>
          <p:cNvSpPr/>
          <p:nvPr/>
        </p:nvSpPr>
        <p:spPr>
          <a:xfrm>
            <a:off x="2505456" y="2743200"/>
            <a:ext cx="1965960" cy="201168"/>
          </a:xfrm>
          <a:prstGeom prst="rect">
            <a:avLst/>
          </a:prstGeom>
          <a:noFill/>
          <a:ln/>
        </p:spPr>
        <p:txBody>
          <a:bodyPr wrap="square" lIns="0" tIns="0" rIns="0" bIns="0" rtlCol="0" anchor="ctr"/>
          <a:lstStyle/>
          <a:p>
            <a:pPr marL="0" indent="0" algn="ctr">
              <a:buNone/>
            </a:pPr>
            <a:r>
              <a:rPr lang="en-US" sz="850" b="1" i="1" dirty="0">
                <a:solidFill>
                  <a:srgbClr val="D99100"/>
                </a:solidFill>
                <a:latin typeface="Arial" pitchFamily="34" charset="0"/>
                <a:ea typeface="Arial" pitchFamily="34" charset="-122"/>
                <a:cs typeface="Arial" pitchFamily="34" charset="-120"/>
              </a:rPr>
              <a:t>Snyk</a:t>
            </a:r>
            <a:endParaRPr lang="en-US" sz="850" dirty="0"/>
          </a:p>
        </p:txBody>
      </p:sp>
      <p:sp>
        <p:nvSpPr>
          <p:cNvPr id="15" name="Shape 11"/>
          <p:cNvSpPr/>
          <p:nvPr/>
        </p:nvSpPr>
        <p:spPr>
          <a:xfrm>
            <a:off x="4645152" y="1051560"/>
            <a:ext cx="1965960" cy="1920240"/>
          </a:xfrm>
          <a:prstGeom prst="roundRect">
            <a:avLst>
              <a:gd name="adj" fmla="val 4762"/>
            </a:avLst>
          </a:prstGeom>
          <a:solidFill>
            <a:srgbClr val="EFEFEF"/>
          </a:solidFill>
          <a:ln/>
        </p:spPr>
      </p:sp>
      <p:sp>
        <p:nvSpPr>
          <p:cNvPr id="16" name="Shape 12"/>
          <p:cNvSpPr/>
          <p:nvPr/>
        </p:nvSpPr>
        <p:spPr>
          <a:xfrm>
            <a:off x="5303520" y="1207008"/>
            <a:ext cx="658368" cy="658368"/>
          </a:xfrm>
          <a:prstGeom prst="ellipse">
            <a:avLst/>
          </a:prstGeom>
          <a:solidFill>
            <a:srgbClr val="F5A800"/>
          </a:solidFill>
          <a:ln/>
        </p:spPr>
      </p:sp>
      <p:pic>
        <p:nvPicPr>
          <p:cNvPr id="17" name="Image 2" descr="preencoded.png"/>
          <p:cNvPicPr>
            <a:picLocks noChangeAspect="1"/>
          </p:cNvPicPr>
          <p:nvPr/>
        </p:nvPicPr>
        <p:blipFill>
          <a:blip r:embed="rId5"/>
          <a:stretch>
            <a:fillRect/>
          </a:stretch>
        </p:blipFill>
        <p:spPr>
          <a:xfrm>
            <a:off x="5458968" y="1362456"/>
            <a:ext cx="347472" cy="347472"/>
          </a:xfrm>
          <a:prstGeom prst="rect">
            <a:avLst/>
          </a:prstGeom>
        </p:spPr>
      </p:pic>
      <p:sp>
        <p:nvSpPr>
          <p:cNvPr id="18" name="Text 13"/>
          <p:cNvSpPr/>
          <p:nvPr/>
        </p:nvSpPr>
        <p:spPr>
          <a:xfrm>
            <a:off x="4645152" y="1938528"/>
            <a:ext cx="1965960" cy="310896"/>
          </a:xfrm>
          <a:prstGeom prst="rect">
            <a:avLst/>
          </a:prstGeom>
          <a:noFill/>
          <a:ln/>
        </p:spPr>
        <p:txBody>
          <a:bodyPr wrap="square" lIns="0" tIns="0" rIns="0" bIns="0" rtlCol="0" anchor="ctr"/>
          <a:lstStyle/>
          <a:p>
            <a:pPr marL="0" indent="0" algn="ctr">
              <a:buNone/>
            </a:pPr>
            <a:r>
              <a:rPr lang="en-US" sz="1500" b="1" dirty="0">
                <a:solidFill>
                  <a:srgbClr val="212626"/>
                </a:solidFill>
                <a:latin typeface="Arial" pitchFamily="34" charset="0"/>
                <a:ea typeface="Arial" pitchFamily="34" charset="-122"/>
                <a:cs typeface="Arial" pitchFamily="34" charset="-120"/>
              </a:rPr>
              <a:t>DAST</a:t>
            </a:r>
            <a:endParaRPr lang="en-US" sz="1500" dirty="0"/>
          </a:p>
        </p:txBody>
      </p:sp>
      <p:sp>
        <p:nvSpPr>
          <p:cNvPr id="19" name="Text 14"/>
          <p:cNvSpPr/>
          <p:nvPr/>
        </p:nvSpPr>
        <p:spPr>
          <a:xfrm>
            <a:off x="4764024" y="2249424"/>
            <a:ext cx="1737360" cy="548640"/>
          </a:xfrm>
          <a:prstGeom prst="rect">
            <a:avLst/>
          </a:prstGeom>
          <a:noFill/>
          <a:ln/>
        </p:spPr>
        <p:txBody>
          <a:bodyPr wrap="square" lIns="0" tIns="0" rIns="0" bIns="0" rtlCol="0" anchor="t"/>
          <a:lstStyle/>
          <a:p>
            <a:pPr marL="0" indent="0" algn="ctr">
              <a:buNone/>
            </a:pPr>
            <a:r>
              <a:rPr lang="en-US" sz="900" dirty="0">
                <a:solidFill>
                  <a:srgbClr val="5D6769"/>
                </a:solidFill>
                <a:latin typeface="Arial" pitchFamily="34" charset="0"/>
                <a:ea typeface="Arial" pitchFamily="34" charset="-122"/>
                <a:cs typeface="Arial" pitchFamily="34" charset="-120"/>
              </a:rPr>
              <a:t>Pruebas dinámicas sobre la app en ejecución.</a:t>
            </a:r>
            <a:endParaRPr lang="en-US" sz="900" dirty="0"/>
          </a:p>
        </p:txBody>
      </p:sp>
      <p:sp>
        <p:nvSpPr>
          <p:cNvPr id="20" name="Text 15"/>
          <p:cNvSpPr/>
          <p:nvPr/>
        </p:nvSpPr>
        <p:spPr>
          <a:xfrm>
            <a:off x="4645152" y="2743200"/>
            <a:ext cx="1965960" cy="201168"/>
          </a:xfrm>
          <a:prstGeom prst="rect">
            <a:avLst/>
          </a:prstGeom>
          <a:noFill/>
          <a:ln/>
        </p:spPr>
        <p:txBody>
          <a:bodyPr wrap="square" lIns="0" tIns="0" rIns="0" bIns="0" rtlCol="0" anchor="ctr"/>
          <a:lstStyle/>
          <a:p>
            <a:pPr marL="0" indent="0" algn="ctr">
              <a:buNone/>
            </a:pPr>
            <a:r>
              <a:rPr lang="en-US" sz="850" b="1" i="1" dirty="0">
                <a:solidFill>
                  <a:srgbClr val="D99100"/>
                </a:solidFill>
                <a:latin typeface="Arial" pitchFamily="34" charset="0"/>
                <a:ea typeface="Arial" pitchFamily="34" charset="-122"/>
                <a:cs typeface="Arial" pitchFamily="34" charset="-120"/>
              </a:rPr>
              <a:t>Snyk</a:t>
            </a:r>
            <a:endParaRPr lang="en-US" sz="850" dirty="0"/>
          </a:p>
        </p:txBody>
      </p:sp>
      <p:sp>
        <p:nvSpPr>
          <p:cNvPr id="21" name="Shape 16"/>
          <p:cNvSpPr/>
          <p:nvPr/>
        </p:nvSpPr>
        <p:spPr>
          <a:xfrm>
            <a:off x="6784848" y="1051560"/>
            <a:ext cx="1965960" cy="1920240"/>
          </a:xfrm>
          <a:prstGeom prst="roundRect">
            <a:avLst>
              <a:gd name="adj" fmla="val 4762"/>
            </a:avLst>
          </a:prstGeom>
          <a:solidFill>
            <a:srgbClr val="EFEFEF"/>
          </a:solidFill>
          <a:ln/>
        </p:spPr>
      </p:sp>
      <p:sp>
        <p:nvSpPr>
          <p:cNvPr id="22" name="Shape 17"/>
          <p:cNvSpPr/>
          <p:nvPr/>
        </p:nvSpPr>
        <p:spPr>
          <a:xfrm>
            <a:off x="7443216" y="1207008"/>
            <a:ext cx="658368" cy="658368"/>
          </a:xfrm>
          <a:prstGeom prst="ellipse">
            <a:avLst/>
          </a:prstGeom>
          <a:solidFill>
            <a:srgbClr val="F5A800"/>
          </a:solidFill>
          <a:ln/>
        </p:spPr>
      </p:sp>
      <p:pic>
        <p:nvPicPr>
          <p:cNvPr id="23" name="Image 3" descr="preencoded.png"/>
          <p:cNvPicPr>
            <a:picLocks noChangeAspect="1"/>
          </p:cNvPicPr>
          <p:nvPr/>
        </p:nvPicPr>
        <p:blipFill>
          <a:blip r:embed="rId6"/>
          <a:stretch>
            <a:fillRect/>
          </a:stretch>
        </p:blipFill>
        <p:spPr>
          <a:xfrm>
            <a:off x="7598664" y="1362456"/>
            <a:ext cx="347472" cy="347472"/>
          </a:xfrm>
          <a:prstGeom prst="rect">
            <a:avLst/>
          </a:prstGeom>
        </p:spPr>
      </p:pic>
      <p:sp>
        <p:nvSpPr>
          <p:cNvPr id="24" name="Text 18"/>
          <p:cNvSpPr/>
          <p:nvPr/>
        </p:nvSpPr>
        <p:spPr>
          <a:xfrm>
            <a:off x="6784848" y="1938528"/>
            <a:ext cx="1965960" cy="310896"/>
          </a:xfrm>
          <a:prstGeom prst="rect">
            <a:avLst/>
          </a:prstGeom>
          <a:noFill/>
          <a:ln/>
        </p:spPr>
        <p:txBody>
          <a:bodyPr wrap="square" lIns="0" tIns="0" rIns="0" bIns="0" rtlCol="0" anchor="ctr"/>
          <a:lstStyle/>
          <a:p>
            <a:pPr marL="0" indent="0" algn="ctr">
              <a:buNone/>
            </a:pPr>
            <a:r>
              <a:rPr lang="en-US" sz="1500" b="1" dirty="0">
                <a:solidFill>
                  <a:srgbClr val="212626"/>
                </a:solidFill>
                <a:latin typeface="Arial" pitchFamily="34" charset="0"/>
                <a:ea typeface="Arial" pitchFamily="34" charset="-122"/>
                <a:cs typeface="Arial" pitchFamily="34" charset="-120"/>
              </a:rPr>
              <a:t>API</a:t>
            </a:r>
            <a:endParaRPr lang="en-US" sz="1500" dirty="0"/>
          </a:p>
        </p:txBody>
      </p:sp>
      <p:sp>
        <p:nvSpPr>
          <p:cNvPr id="25" name="Text 19"/>
          <p:cNvSpPr/>
          <p:nvPr/>
        </p:nvSpPr>
        <p:spPr>
          <a:xfrm>
            <a:off x="6903720" y="2249424"/>
            <a:ext cx="1737360" cy="548640"/>
          </a:xfrm>
          <a:prstGeom prst="rect">
            <a:avLst/>
          </a:prstGeom>
          <a:noFill/>
          <a:ln/>
        </p:spPr>
        <p:txBody>
          <a:bodyPr wrap="square" lIns="0" tIns="0" rIns="0" bIns="0" rtlCol="0" anchor="t"/>
          <a:lstStyle/>
          <a:p>
            <a:pPr marL="0" indent="0" algn="ctr">
              <a:buNone/>
            </a:pPr>
            <a:r>
              <a:rPr lang="en-US" sz="900" dirty="0">
                <a:solidFill>
                  <a:srgbClr val="5D6769"/>
                </a:solidFill>
                <a:latin typeface="Arial" pitchFamily="34" charset="0"/>
                <a:ea typeface="Arial" pitchFamily="34" charset="-122"/>
                <a:cs typeface="Arial" pitchFamily="34" charset="-120"/>
              </a:rPr>
              <a:t>Seguridad de los endpoints y contratos API.</a:t>
            </a:r>
            <a:endParaRPr lang="en-US" sz="900" dirty="0"/>
          </a:p>
        </p:txBody>
      </p:sp>
      <p:sp>
        <p:nvSpPr>
          <p:cNvPr id="26" name="Text 20"/>
          <p:cNvSpPr/>
          <p:nvPr/>
        </p:nvSpPr>
        <p:spPr>
          <a:xfrm>
            <a:off x="6784848" y="2743200"/>
            <a:ext cx="1965960" cy="201168"/>
          </a:xfrm>
          <a:prstGeom prst="rect">
            <a:avLst/>
          </a:prstGeom>
          <a:noFill/>
          <a:ln/>
        </p:spPr>
        <p:txBody>
          <a:bodyPr wrap="square" lIns="0" tIns="0" rIns="0" bIns="0" rtlCol="0" anchor="ctr"/>
          <a:lstStyle/>
          <a:p>
            <a:pPr marL="0" indent="0" algn="ctr">
              <a:buNone/>
            </a:pPr>
            <a:r>
              <a:rPr lang="en-US" sz="850" b="1" i="1" dirty="0">
                <a:solidFill>
                  <a:srgbClr val="D99100"/>
                </a:solidFill>
                <a:latin typeface="Arial" pitchFamily="34" charset="0"/>
                <a:ea typeface="Arial" pitchFamily="34" charset="-122"/>
                <a:cs typeface="Arial" pitchFamily="34" charset="-120"/>
              </a:rPr>
              <a:t>Snyk</a:t>
            </a:r>
            <a:endParaRPr lang="en-US" sz="850" dirty="0"/>
          </a:p>
        </p:txBody>
      </p:sp>
      <p:sp>
        <p:nvSpPr>
          <p:cNvPr id="27" name="Shape 21"/>
          <p:cNvSpPr/>
          <p:nvPr/>
        </p:nvSpPr>
        <p:spPr>
          <a:xfrm>
            <a:off x="365760" y="3200400"/>
            <a:ext cx="8412480" cy="960120"/>
          </a:xfrm>
          <a:prstGeom prst="roundRect">
            <a:avLst>
              <a:gd name="adj" fmla="val 9524"/>
            </a:avLst>
          </a:prstGeom>
          <a:solidFill>
            <a:srgbClr val="212626"/>
          </a:solidFill>
          <a:ln/>
        </p:spPr>
      </p:sp>
      <p:sp>
        <p:nvSpPr>
          <p:cNvPr id="28" name="Shape 22"/>
          <p:cNvSpPr/>
          <p:nvPr/>
        </p:nvSpPr>
        <p:spPr>
          <a:xfrm>
            <a:off x="594360" y="3401568"/>
            <a:ext cx="566928" cy="566928"/>
          </a:xfrm>
          <a:prstGeom prst="ellipse">
            <a:avLst/>
          </a:prstGeom>
          <a:solidFill>
            <a:srgbClr val="F5A800"/>
          </a:solidFill>
          <a:ln/>
        </p:spPr>
      </p:sp>
      <p:pic>
        <p:nvPicPr>
          <p:cNvPr id="29" name="Image 4" descr="preencoded.png"/>
          <p:cNvPicPr>
            <a:picLocks noChangeAspect="1"/>
          </p:cNvPicPr>
          <p:nvPr/>
        </p:nvPicPr>
        <p:blipFill>
          <a:blip r:embed="rId7"/>
          <a:stretch>
            <a:fillRect/>
          </a:stretch>
        </p:blipFill>
        <p:spPr>
          <a:xfrm>
            <a:off x="731520" y="3538728"/>
            <a:ext cx="292608" cy="292608"/>
          </a:xfrm>
          <a:prstGeom prst="rect">
            <a:avLst/>
          </a:prstGeom>
        </p:spPr>
      </p:pic>
      <p:sp>
        <p:nvSpPr>
          <p:cNvPr id="30" name="Text 23"/>
          <p:cNvSpPr/>
          <p:nvPr/>
        </p:nvSpPr>
        <p:spPr>
          <a:xfrm>
            <a:off x="1371600" y="3310128"/>
            <a:ext cx="7223760" cy="411480"/>
          </a:xfrm>
          <a:prstGeom prst="rect">
            <a:avLst/>
          </a:prstGeom>
          <a:noFill/>
          <a:ln/>
        </p:spPr>
        <p:txBody>
          <a:bodyPr wrap="square" lIns="0" tIns="0" rIns="0" bIns="0" rtlCol="0" anchor="ctr"/>
          <a:lstStyle/>
          <a:p>
            <a:pPr marL="0" indent="0" algn="l">
              <a:buNone/>
            </a:pPr>
            <a:r>
              <a:rPr lang="en-US" sz="1300" b="1" dirty="0">
                <a:solidFill>
                  <a:srgbClr val="FFFFFF"/>
                </a:solidFill>
                <a:latin typeface="Arial" pitchFamily="34" charset="0"/>
                <a:ea typeface="Arial" pitchFamily="34" charset="-122"/>
                <a:cs typeface="Arial" pitchFamily="34" charset="-120"/>
              </a:rPr>
              <a:t>Pentest manual</a:t>
            </a:r>
            <a:r>
              <a:rPr lang="en-US" sz="1300" dirty="0">
                <a:solidFill>
                  <a:srgbClr val="E0E0E0"/>
                </a:solidFill>
                <a:latin typeface="Arial" pitchFamily="34" charset="0"/>
                <a:ea typeface="Arial" pitchFamily="34" charset="-122"/>
                <a:cs typeface="Arial" pitchFamily="34" charset="-120"/>
              </a:rPr>
              <a:t>   ·  capa final ejecutada por el equipo de Ciberinteligencia interno</a:t>
            </a:r>
            <a:endParaRPr lang="en-US" sz="1300" dirty="0"/>
          </a:p>
        </p:txBody>
      </p:sp>
      <p:sp>
        <p:nvSpPr>
          <p:cNvPr id="31" name="Text 24"/>
          <p:cNvSpPr/>
          <p:nvPr/>
        </p:nvSpPr>
        <p:spPr>
          <a:xfrm>
            <a:off x="1371600" y="3703320"/>
            <a:ext cx="7223760" cy="365760"/>
          </a:xfrm>
          <a:prstGeom prst="rect">
            <a:avLst/>
          </a:prstGeom>
          <a:noFill/>
          <a:ln/>
        </p:spPr>
        <p:txBody>
          <a:bodyPr wrap="square" lIns="0" tIns="0" rIns="0" bIns="0" rtlCol="0" anchor="ctr"/>
          <a:lstStyle/>
          <a:p>
            <a:pPr marL="0" indent="0" algn="l">
              <a:buNone/>
            </a:pPr>
            <a:r>
              <a:rPr lang="en-US" sz="1000" dirty="0">
                <a:solidFill>
                  <a:srgbClr val="E0E0E0"/>
                </a:solidFill>
                <a:latin typeface="Arial" pitchFamily="34" charset="0"/>
                <a:ea typeface="Arial" pitchFamily="34" charset="-122"/>
                <a:cs typeface="Arial" pitchFamily="34" charset="-120"/>
              </a:rPr>
              <a:t>Lo que las herramientas automáticas no ven, lo encuentra un analista. Las capas no compiten: se complementan.</a:t>
            </a:r>
            <a:endParaRPr lang="en-US" sz="1000" dirty="0"/>
          </a:p>
        </p:txBody>
      </p:sp>
      <p:pic>
        <p:nvPicPr>
          <p:cNvPr id="32" name="Image 5" descr="preencoded.png"/>
          <p:cNvPicPr>
            <a:picLocks noChangeAspect="1"/>
          </p:cNvPicPr>
          <p:nvPr/>
        </p:nvPicPr>
        <p:blipFill>
          <a:blip r:embed="rId8"/>
          <a:stretch>
            <a:fillRect/>
          </a:stretch>
        </p:blipFill>
        <p:spPr>
          <a:xfrm>
            <a:off x="365760" y="4645152"/>
            <a:ext cx="960120" cy="178308"/>
          </a:xfrm>
          <a:prstGeom prst="rect">
            <a:avLst/>
          </a:prstGeom>
        </p:spPr>
      </p:pic>
      <p:sp>
        <p:nvSpPr>
          <p:cNvPr id="33" name="Text 25"/>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34" name="Text 26"/>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Secretos: </a:t>
            </a:r>
            <a:r>
              <a:rPr lang="en-US" sz="2200" b="1" dirty="0">
                <a:solidFill>
                  <a:srgbClr val="D99100"/>
                </a:solidFill>
                <a:latin typeface="Arial" pitchFamily="34" charset="0"/>
                <a:ea typeface="Arial" pitchFamily="34" charset="-122"/>
                <a:cs typeface="Arial" pitchFamily="34" charset="-120"/>
              </a:rPr>
              <a:t>control automático</a:t>
            </a:r>
            <a:endParaRPr lang="en-US" sz="2200" dirty="0"/>
          </a:p>
        </p:txBody>
      </p:sp>
      <p:sp>
        <p:nvSpPr>
          <p:cNvPr id="3" name="Text 1"/>
          <p:cNvSpPr/>
          <p:nvPr/>
        </p:nvSpPr>
        <p:spPr>
          <a:xfrm>
            <a:off x="365760" y="914400"/>
            <a:ext cx="8412480" cy="640080"/>
          </a:xfrm>
          <a:prstGeom prst="rect">
            <a:avLst/>
          </a:prstGeom>
          <a:noFill/>
          <a:ln/>
        </p:spPr>
        <p:txBody>
          <a:bodyPr wrap="square" rtlCol="0" anchor="ctr"/>
          <a:lstStyle/>
          <a:p>
            <a:pPr marL="0" indent="0" algn="l">
              <a:buNone/>
            </a:pPr>
            <a:r>
              <a:rPr lang="en-US" sz="1250" dirty="0">
                <a:solidFill>
                  <a:srgbClr val="5D6769"/>
                </a:solidFill>
                <a:latin typeface="Arial" pitchFamily="34" charset="0"/>
                <a:ea typeface="Arial" pitchFamily="34" charset="-122"/>
                <a:cs typeface="Arial" pitchFamily="34" charset="-120"/>
              </a:rPr>
              <a:t>La detección de secretos ya corre de forma automática en el pipeline de Bitbucket. No tienes que ejecutarla: se aplica sola en cada cambio y también detiene el deploy si encuentra una credencial expuesta.</a:t>
            </a:r>
            <a:endParaRPr lang="en-US" sz="1250" dirty="0"/>
          </a:p>
        </p:txBody>
      </p:sp>
      <p:sp>
        <p:nvSpPr>
          <p:cNvPr id="4" name="Shape 2"/>
          <p:cNvSpPr/>
          <p:nvPr/>
        </p:nvSpPr>
        <p:spPr>
          <a:xfrm>
            <a:off x="365760" y="1627632"/>
            <a:ext cx="2651760" cy="365760"/>
          </a:xfrm>
          <a:prstGeom prst="roundRect">
            <a:avLst>
              <a:gd name="adj" fmla="val 15000"/>
            </a:avLst>
          </a:prstGeom>
          <a:solidFill>
            <a:srgbClr val="FCE9BF"/>
          </a:solidFill>
          <a:ln/>
        </p:spPr>
      </p:sp>
      <p:pic>
        <p:nvPicPr>
          <p:cNvPr id="5" name="Image 0" descr="preencoded.png"/>
          <p:cNvPicPr>
            <a:picLocks noChangeAspect="1"/>
          </p:cNvPicPr>
          <p:nvPr/>
        </p:nvPicPr>
        <p:blipFill>
          <a:blip r:embed="rId3"/>
          <a:stretch>
            <a:fillRect/>
          </a:stretch>
        </p:blipFill>
        <p:spPr>
          <a:xfrm>
            <a:off x="566928" y="1719072"/>
            <a:ext cx="182880" cy="182880"/>
          </a:xfrm>
          <a:prstGeom prst="rect">
            <a:avLst/>
          </a:prstGeom>
        </p:spPr>
      </p:pic>
      <p:sp>
        <p:nvSpPr>
          <p:cNvPr id="6" name="Text 3"/>
          <p:cNvSpPr/>
          <p:nvPr/>
        </p:nvSpPr>
        <p:spPr>
          <a:xfrm>
            <a:off x="822960" y="1627632"/>
            <a:ext cx="2103120" cy="365760"/>
          </a:xfrm>
          <a:prstGeom prst="rect">
            <a:avLst/>
          </a:prstGeom>
          <a:noFill/>
          <a:ln/>
        </p:spPr>
        <p:txBody>
          <a:bodyPr wrap="square" lIns="0" tIns="0" rIns="0" bIns="0" rtlCol="0" anchor="ctr"/>
          <a:lstStyle/>
          <a:p>
            <a:pPr marL="0" indent="0" algn="l">
              <a:buNone/>
            </a:pPr>
            <a:r>
              <a:rPr lang="en-US" sz="1100" b="1" dirty="0">
                <a:solidFill>
                  <a:srgbClr val="212626"/>
                </a:solidFill>
                <a:latin typeface="Arial" pitchFamily="34" charset="0"/>
                <a:ea typeface="Arial" pitchFamily="34" charset="-122"/>
                <a:cs typeface="Arial" pitchFamily="34" charset="-120"/>
              </a:rPr>
              <a:t>API Keys</a:t>
            </a:r>
            <a:endParaRPr lang="en-US" sz="1100" dirty="0"/>
          </a:p>
        </p:txBody>
      </p:sp>
      <p:sp>
        <p:nvSpPr>
          <p:cNvPr id="7" name="Shape 4"/>
          <p:cNvSpPr/>
          <p:nvPr/>
        </p:nvSpPr>
        <p:spPr>
          <a:xfrm>
            <a:off x="3227832" y="1627632"/>
            <a:ext cx="2651760" cy="365760"/>
          </a:xfrm>
          <a:prstGeom prst="roundRect">
            <a:avLst>
              <a:gd name="adj" fmla="val 15000"/>
            </a:avLst>
          </a:prstGeom>
          <a:solidFill>
            <a:srgbClr val="FCE9BF"/>
          </a:solidFill>
          <a:ln/>
        </p:spPr>
      </p:sp>
      <p:pic>
        <p:nvPicPr>
          <p:cNvPr id="8" name="Image 1" descr="preencoded.png"/>
          <p:cNvPicPr>
            <a:picLocks noChangeAspect="1"/>
          </p:cNvPicPr>
          <p:nvPr/>
        </p:nvPicPr>
        <p:blipFill>
          <a:blip r:embed="rId3"/>
          <a:stretch>
            <a:fillRect/>
          </a:stretch>
        </p:blipFill>
        <p:spPr>
          <a:xfrm>
            <a:off x="3429000" y="1719072"/>
            <a:ext cx="182880" cy="182880"/>
          </a:xfrm>
          <a:prstGeom prst="rect">
            <a:avLst/>
          </a:prstGeom>
        </p:spPr>
      </p:pic>
      <p:sp>
        <p:nvSpPr>
          <p:cNvPr id="9" name="Text 5"/>
          <p:cNvSpPr/>
          <p:nvPr/>
        </p:nvSpPr>
        <p:spPr>
          <a:xfrm>
            <a:off x="3685032" y="1627632"/>
            <a:ext cx="2103120" cy="365760"/>
          </a:xfrm>
          <a:prstGeom prst="rect">
            <a:avLst/>
          </a:prstGeom>
          <a:noFill/>
          <a:ln/>
        </p:spPr>
        <p:txBody>
          <a:bodyPr wrap="square" lIns="0" tIns="0" rIns="0" bIns="0" rtlCol="0" anchor="ctr"/>
          <a:lstStyle/>
          <a:p>
            <a:pPr marL="0" indent="0" algn="l">
              <a:buNone/>
            </a:pPr>
            <a:r>
              <a:rPr lang="en-US" sz="1100" b="1" dirty="0">
                <a:solidFill>
                  <a:srgbClr val="212626"/>
                </a:solidFill>
                <a:latin typeface="Arial" pitchFamily="34" charset="0"/>
                <a:ea typeface="Arial" pitchFamily="34" charset="-122"/>
                <a:cs typeface="Arial" pitchFamily="34" charset="-120"/>
              </a:rPr>
              <a:t>Passwords</a:t>
            </a:r>
            <a:endParaRPr lang="en-US" sz="1100" dirty="0"/>
          </a:p>
        </p:txBody>
      </p:sp>
      <p:sp>
        <p:nvSpPr>
          <p:cNvPr id="10" name="Shape 6"/>
          <p:cNvSpPr/>
          <p:nvPr/>
        </p:nvSpPr>
        <p:spPr>
          <a:xfrm>
            <a:off x="6089904" y="1627632"/>
            <a:ext cx="2651760" cy="365760"/>
          </a:xfrm>
          <a:prstGeom prst="roundRect">
            <a:avLst>
              <a:gd name="adj" fmla="val 15000"/>
            </a:avLst>
          </a:prstGeom>
          <a:solidFill>
            <a:srgbClr val="FCE9BF"/>
          </a:solidFill>
          <a:ln/>
        </p:spPr>
      </p:sp>
      <p:pic>
        <p:nvPicPr>
          <p:cNvPr id="11" name="Image 2" descr="preencoded.png"/>
          <p:cNvPicPr>
            <a:picLocks noChangeAspect="1"/>
          </p:cNvPicPr>
          <p:nvPr/>
        </p:nvPicPr>
        <p:blipFill>
          <a:blip r:embed="rId3"/>
          <a:stretch>
            <a:fillRect/>
          </a:stretch>
        </p:blipFill>
        <p:spPr>
          <a:xfrm>
            <a:off x="6291072" y="1719072"/>
            <a:ext cx="182880" cy="182880"/>
          </a:xfrm>
          <a:prstGeom prst="rect">
            <a:avLst/>
          </a:prstGeom>
        </p:spPr>
      </p:pic>
      <p:sp>
        <p:nvSpPr>
          <p:cNvPr id="12" name="Text 7"/>
          <p:cNvSpPr/>
          <p:nvPr/>
        </p:nvSpPr>
        <p:spPr>
          <a:xfrm>
            <a:off x="6547104" y="1627632"/>
            <a:ext cx="2103120" cy="365760"/>
          </a:xfrm>
          <a:prstGeom prst="rect">
            <a:avLst/>
          </a:prstGeom>
          <a:noFill/>
          <a:ln/>
        </p:spPr>
        <p:txBody>
          <a:bodyPr wrap="square" lIns="0" tIns="0" rIns="0" bIns="0" rtlCol="0" anchor="ctr"/>
          <a:lstStyle/>
          <a:p>
            <a:pPr marL="0" indent="0" algn="l">
              <a:buNone/>
            </a:pPr>
            <a:r>
              <a:rPr lang="en-US" sz="1100" b="1" dirty="0">
                <a:solidFill>
                  <a:srgbClr val="212626"/>
                </a:solidFill>
                <a:latin typeface="Arial" pitchFamily="34" charset="0"/>
                <a:ea typeface="Arial" pitchFamily="34" charset="-122"/>
                <a:cs typeface="Arial" pitchFamily="34" charset="-120"/>
              </a:rPr>
              <a:t>Tokens</a:t>
            </a:r>
            <a:endParaRPr lang="en-US" sz="1100" dirty="0"/>
          </a:p>
        </p:txBody>
      </p:sp>
      <p:sp>
        <p:nvSpPr>
          <p:cNvPr id="13" name="Shape 8"/>
          <p:cNvSpPr/>
          <p:nvPr/>
        </p:nvSpPr>
        <p:spPr>
          <a:xfrm>
            <a:off x="365760" y="2084832"/>
            <a:ext cx="2651760" cy="365760"/>
          </a:xfrm>
          <a:prstGeom prst="roundRect">
            <a:avLst>
              <a:gd name="adj" fmla="val 15000"/>
            </a:avLst>
          </a:prstGeom>
          <a:solidFill>
            <a:srgbClr val="FCE9BF"/>
          </a:solidFill>
          <a:ln/>
        </p:spPr>
      </p:sp>
      <p:pic>
        <p:nvPicPr>
          <p:cNvPr id="14" name="Image 3" descr="preencoded.png"/>
          <p:cNvPicPr>
            <a:picLocks noChangeAspect="1"/>
          </p:cNvPicPr>
          <p:nvPr/>
        </p:nvPicPr>
        <p:blipFill>
          <a:blip r:embed="rId3"/>
          <a:stretch>
            <a:fillRect/>
          </a:stretch>
        </p:blipFill>
        <p:spPr>
          <a:xfrm>
            <a:off x="566928" y="2176272"/>
            <a:ext cx="182880" cy="182880"/>
          </a:xfrm>
          <a:prstGeom prst="rect">
            <a:avLst/>
          </a:prstGeom>
        </p:spPr>
      </p:pic>
      <p:sp>
        <p:nvSpPr>
          <p:cNvPr id="15" name="Text 9"/>
          <p:cNvSpPr/>
          <p:nvPr/>
        </p:nvSpPr>
        <p:spPr>
          <a:xfrm>
            <a:off x="822960" y="2084832"/>
            <a:ext cx="2103120" cy="365760"/>
          </a:xfrm>
          <a:prstGeom prst="rect">
            <a:avLst/>
          </a:prstGeom>
          <a:noFill/>
          <a:ln/>
        </p:spPr>
        <p:txBody>
          <a:bodyPr wrap="square" lIns="0" tIns="0" rIns="0" bIns="0" rtlCol="0" anchor="ctr"/>
          <a:lstStyle/>
          <a:p>
            <a:pPr marL="0" indent="0" algn="l">
              <a:buNone/>
            </a:pPr>
            <a:r>
              <a:rPr lang="en-US" sz="1100" b="1" dirty="0">
                <a:solidFill>
                  <a:srgbClr val="212626"/>
                </a:solidFill>
                <a:latin typeface="Arial" pitchFamily="34" charset="0"/>
                <a:ea typeface="Arial" pitchFamily="34" charset="-122"/>
                <a:cs typeface="Arial" pitchFamily="34" charset="-120"/>
              </a:rPr>
              <a:t>SSH Keys</a:t>
            </a:r>
            <a:endParaRPr lang="en-US" sz="1100" dirty="0"/>
          </a:p>
        </p:txBody>
      </p:sp>
      <p:sp>
        <p:nvSpPr>
          <p:cNvPr id="16" name="Shape 10"/>
          <p:cNvSpPr/>
          <p:nvPr/>
        </p:nvSpPr>
        <p:spPr>
          <a:xfrm>
            <a:off x="3227832" y="2084832"/>
            <a:ext cx="2651760" cy="365760"/>
          </a:xfrm>
          <a:prstGeom prst="roundRect">
            <a:avLst>
              <a:gd name="adj" fmla="val 15000"/>
            </a:avLst>
          </a:prstGeom>
          <a:solidFill>
            <a:srgbClr val="FCE9BF"/>
          </a:solidFill>
          <a:ln/>
        </p:spPr>
      </p:sp>
      <p:pic>
        <p:nvPicPr>
          <p:cNvPr id="17" name="Image 4" descr="preencoded.png"/>
          <p:cNvPicPr>
            <a:picLocks noChangeAspect="1"/>
          </p:cNvPicPr>
          <p:nvPr/>
        </p:nvPicPr>
        <p:blipFill>
          <a:blip r:embed="rId3"/>
          <a:stretch>
            <a:fillRect/>
          </a:stretch>
        </p:blipFill>
        <p:spPr>
          <a:xfrm>
            <a:off x="3429000" y="2176272"/>
            <a:ext cx="182880" cy="182880"/>
          </a:xfrm>
          <a:prstGeom prst="rect">
            <a:avLst/>
          </a:prstGeom>
        </p:spPr>
      </p:pic>
      <p:sp>
        <p:nvSpPr>
          <p:cNvPr id="18" name="Text 11"/>
          <p:cNvSpPr/>
          <p:nvPr/>
        </p:nvSpPr>
        <p:spPr>
          <a:xfrm>
            <a:off x="3685032" y="2084832"/>
            <a:ext cx="2103120" cy="365760"/>
          </a:xfrm>
          <a:prstGeom prst="rect">
            <a:avLst/>
          </a:prstGeom>
          <a:noFill/>
          <a:ln/>
        </p:spPr>
        <p:txBody>
          <a:bodyPr wrap="square" lIns="0" tIns="0" rIns="0" bIns="0" rtlCol="0" anchor="ctr"/>
          <a:lstStyle/>
          <a:p>
            <a:pPr marL="0" indent="0" algn="l">
              <a:buNone/>
            </a:pPr>
            <a:r>
              <a:rPr lang="en-US" sz="1100" b="1" dirty="0">
                <a:solidFill>
                  <a:srgbClr val="212626"/>
                </a:solidFill>
                <a:latin typeface="Arial" pitchFamily="34" charset="0"/>
                <a:ea typeface="Arial" pitchFamily="34" charset="-122"/>
                <a:cs typeface="Arial" pitchFamily="34" charset="-120"/>
              </a:rPr>
              <a:t>Certificados</a:t>
            </a:r>
            <a:endParaRPr lang="en-US" sz="1100" dirty="0"/>
          </a:p>
        </p:txBody>
      </p:sp>
      <p:sp>
        <p:nvSpPr>
          <p:cNvPr id="19" name="Shape 12"/>
          <p:cNvSpPr/>
          <p:nvPr/>
        </p:nvSpPr>
        <p:spPr>
          <a:xfrm>
            <a:off x="6089904" y="2084832"/>
            <a:ext cx="2651760" cy="365760"/>
          </a:xfrm>
          <a:prstGeom prst="roundRect">
            <a:avLst>
              <a:gd name="adj" fmla="val 15000"/>
            </a:avLst>
          </a:prstGeom>
          <a:solidFill>
            <a:srgbClr val="FCE9BF"/>
          </a:solidFill>
          <a:ln/>
        </p:spPr>
      </p:sp>
      <p:pic>
        <p:nvPicPr>
          <p:cNvPr id="20" name="Image 5" descr="preencoded.png"/>
          <p:cNvPicPr>
            <a:picLocks noChangeAspect="1"/>
          </p:cNvPicPr>
          <p:nvPr/>
        </p:nvPicPr>
        <p:blipFill>
          <a:blip r:embed="rId3"/>
          <a:stretch>
            <a:fillRect/>
          </a:stretch>
        </p:blipFill>
        <p:spPr>
          <a:xfrm>
            <a:off x="6291072" y="2176272"/>
            <a:ext cx="182880" cy="182880"/>
          </a:xfrm>
          <a:prstGeom prst="rect">
            <a:avLst/>
          </a:prstGeom>
        </p:spPr>
      </p:pic>
      <p:sp>
        <p:nvSpPr>
          <p:cNvPr id="21" name="Text 13"/>
          <p:cNvSpPr/>
          <p:nvPr/>
        </p:nvSpPr>
        <p:spPr>
          <a:xfrm>
            <a:off x="6547104" y="2084832"/>
            <a:ext cx="2103120" cy="365760"/>
          </a:xfrm>
          <a:prstGeom prst="rect">
            <a:avLst/>
          </a:prstGeom>
          <a:noFill/>
          <a:ln/>
        </p:spPr>
        <p:txBody>
          <a:bodyPr wrap="square" lIns="0" tIns="0" rIns="0" bIns="0" rtlCol="0" anchor="ctr"/>
          <a:lstStyle/>
          <a:p>
            <a:pPr marL="0" indent="0" algn="l">
              <a:buNone/>
            </a:pPr>
            <a:r>
              <a:rPr lang="en-US" sz="1100" b="1" dirty="0">
                <a:solidFill>
                  <a:srgbClr val="212626"/>
                </a:solidFill>
                <a:latin typeface="Arial" pitchFamily="34" charset="0"/>
                <a:ea typeface="Arial" pitchFamily="34" charset="-122"/>
                <a:cs typeface="Arial" pitchFamily="34" charset="-120"/>
              </a:rPr>
              <a:t>Cadenas de conexión</a:t>
            </a:r>
            <a:endParaRPr lang="en-US" sz="1100" dirty="0"/>
          </a:p>
        </p:txBody>
      </p:sp>
      <p:sp>
        <p:nvSpPr>
          <p:cNvPr id="22" name="Shape 14"/>
          <p:cNvSpPr/>
          <p:nvPr/>
        </p:nvSpPr>
        <p:spPr>
          <a:xfrm>
            <a:off x="365760" y="2697480"/>
            <a:ext cx="8412480" cy="1097280"/>
          </a:xfrm>
          <a:prstGeom prst="roundRect">
            <a:avLst>
              <a:gd name="adj" fmla="val 8333"/>
            </a:avLst>
          </a:prstGeom>
          <a:solidFill>
            <a:srgbClr val="212626"/>
          </a:solidFill>
          <a:ln/>
          <a:effectLst>
            <a:outerShdw blurRad="101600" dist="25400" dir="5400000" algn="bl" rotWithShape="0">
              <a:srgbClr val="212626">
                <a:alpha val="10000"/>
              </a:srgbClr>
            </a:outerShdw>
          </a:effectLst>
        </p:spPr>
      </p:sp>
      <p:pic>
        <p:nvPicPr>
          <p:cNvPr id="23" name="Image 6" descr="preencoded.png"/>
          <p:cNvPicPr>
            <a:picLocks noChangeAspect="1"/>
          </p:cNvPicPr>
          <p:nvPr/>
        </p:nvPicPr>
        <p:blipFill>
          <a:blip r:embed="rId4"/>
          <a:stretch>
            <a:fillRect/>
          </a:stretch>
        </p:blipFill>
        <p:spPr>
          <a:xfrm>
            <a:off x="640080" y="3035808"/>
            <a:ext cx="457200" cy="457200"/>
          </a:xfrm>
          <a:prstGeom prst="rect">
            <a:avLst/>
          </a:prstGeom>
        </p:spPr>
      </p:pic>
      <p:sp>
        <p:nvSpPr>
          <p:cNvPr id="24" name="Text 15"/>
          <p:cNvSpPr/>
          <p:nvPr/>
        </p:nvSpPr>
        <p:spPr>
          <a:xfrm>
            <a:off x="1280160" y="2834640"/>
            <a:ext cx="7315200" cy="365760"/>
          </a:xfrm>
          <a:prstGeom prst="rect">
            <a:avLst/>
          </a:prstGeom>
          <a:noFill/>
          <a:ln/>
        </p:spPr>
        <p:txBody>
          <a:bodyPr wrap="square" lIns="0" tIns="0" rIns="0" bIns="0" rtlCol="0" anchor="ctr"/>
          <a:lstStyle/>
          <a:p>
            <a:pPr marL="0" indent="0" algn="l">
              <a:buNone/>
            </a:pPr>
            <a:r>
              <a:rPr lang="en-US" sz="1400" b="1" dirty="0">
                <a:solidFill>
                  <a:srgbClr val="F5A800"/>
                </a:solidFill>
                <a:latin typeface="Arial" pitchFamily="34" charset="0"/>
                <a:ea typeface="Arial" pitchFamily="34" charset="-122"/>
                <a:cs typeface="Arial" pitchFamily="34" charset="-120"/>
              </a:rPr>
              <a:t>Bitbucket Pipeline  </a:t>
            </a:r>
            <a:r>
              <a:rPr lang="en-US" sz="1400" dirty="0">
                <a:solidFill>
                  <a:srgbClr val="E0E0E0"/>
                </a:solidFill>
                <a:latin typeface="Arial" pitchFamily="34" charset="0"/>
                <a:ea typeface="Arial" pitchFamily="34" charset="-122"/>
                <a:cs typeface="Arial" pitchFamily="34" charset="-120"/>
              </a:rPr>
              <a:t>·  automático en cada push</a:t>
            </a:r>
            <a:endParaRPr lang="en-US" sz="1400" dirty="0"/>
          </a:p>
        </p:txBody>
      </p:sp>
      <p:sp>
        <p:nvSpPr>
          <p:cNvPr id="25" name="Text 16"/>
          <p:cNvSpPr/>
          <p:nvPr/>
        </p:nvSpPr>
        <p:spPr>
          <a:xfrm>
            <a:off x="1280160" y="3246120"/>
            <a:ext cx="7315200" cy="457200"/>
          </a:xfrm>
          <a:prstGeom prst="rect">
            <a:avLst/>
          </a:prstGeom>
          <a:noFill/>
          <a:ln/>
        </p:spPr>
        <p:txBody>
          <a:bodyPr wrap="square" lIns="0" tIns="0" rIns="0" bIns="0" rtlCol="0" anchor="ctr"/>
          <a:lstStyle/>
          <a:p>
            <a:pPr marL="0" indent="0" algn="l">
              <a:lnSpc>
                <a:spcPct val="105000"/>
              </a:lnSpc>
              <a:buNone/>
            </a:pPr>
            <a:r>
              <a:rPr lang="en-US" sz="1150" dirty="0">
                <a:solidFill>
                  <a:srgbClr val="E0E0E0"/>
                </a:solidFill>
                <a:latin typeface="Arial" pitchFamily="34" charset="0"/>
                <a:ea typeface="Arial" pitchFamily="34" charset="-122"/>
                <a:cs typeface="Arial" pitchFamily="34" charset="-120"/>
              </a:rPr>
              <a:t>Sin secretos  →  </a:t>
            </a:r>
            <a:r>
              <a:rPr lang="en-US" sz="1150" b="1" dirty="0">
                <a:solidFill>
                  <a:srgbClr val="1E8449"/>
                </a:solidFill>
                <a:latin typeface="Arial" pitchFamily="34" charset="0"/>
                <a:ea typeface="Arial" pitchFamily="34" charset="-122"/>
                <a:cs typeface="Arial" pitchFamily="34" charset="-120"/>
              </a:rPr>
              <a:t>el cambio avanza.    </a:t>
            </a:r>
            <a:r>
              <a:rPr lang="en-US" sz="1150" dirty="0">
                <a:solidFill>
                  <a:srgbClr val="E0E0E0"/>
                </a:solidFill>
                <a:latin typeface="Arial" pitchFamily="34" charset="0"/>
                <a:ea typeface="Arial" pitchFamily="34" charset="-122"/>
                <a:cs typeface="Arial" pitchFamily="34" charset="-120"/>
              </a:rPr>
              <a:t>Con un secreto detectado  →  </a:t>
            </a:r>
            <a:r>
              <a:rPr lang="en-US" sz="1150" b="1" dirty="0">
                <a:solidFill>
                  <a:srgbClr val="F5A800"/>
                </a:solidFill>
                <a:latin typeface="Arial" pitchFamily="34" charset="0"/>
                <a:ea typeface="Arial" pitchFamily="34" charset="-122"/>
                <a:cs typeface="Arial" pitchFamily="34" charset="-120"/>
              </a:rPr>
              <a:t>el deploy se bloquea</a:t>
            </a:r>
            <a:r>
              <a:rPr lang="en-US" sz="1150" dirty="0">
                <a:solidFill>
                  <a:srgbClr val="E0E0E0"/>
                </a:solidFill>
                <a:latin typeface="Arial" pitchFamily="34" charset="0"/>
                <a:ea typeface="Arial" pitchFamily="34" charset="-122"/>
                <a:cs typeface="Arial" pitchFamily="34" charset="-120"/>
              </a:rPr>
              <a:t>.</a:t>
            </a:r>
            <a:endParaRPr lang="en-US" sz="1150" dirty="0"/>
          </a:p>
        </p:txBody>
      </p:sp>
      <p:sp>
        <p:nvSpPr>
          <p:cNvPr id="26" name="Shape 17"/>
          <p:cNvSpPr/>
          <p:nvPr/>
        </p:nvSpPr>
        <p:spPr>
          <a:xfrm>
            <a:off x="365760" y="3977640"/>
            <a:ext cx="8412480" cy="521208"/>
          </a:xfrm>
          <a:prstGeom prst="roundRect">
            <a:avLst>
              <a:gd name="adj" fmla="val 10526"/>
            </a:avLst>
          </a:prstGeom>
          <a:solidFill>
            <a:srgbClr val="FBE3E1"/>
          </a:solidFill>
          <a:ln w="12700">
            <a:solidFill>
              <a:srgbClr val="C0392B"/>
            </a:solidFill>
            <a:prstDash val="solid"/>
          </a:ln>
        </p:spPr>
      </p:sp>
      <p:sp>
        <p:nvSpPr>
          <p:cNvPr id="27" name="Text 18"/>
          <p:cNvSpPr/>
          <p:nvPr/>
        </p:nvSpPr>
        <p:spPr>
          <a:xfrm>
            <a:off x="548640" y="3977640"/>
            <a:ext cx="8092440" cy="521208"/>
          </a:xfrm>
          <a:prstGeom prst="rect">
            <a:avLst/>
          </a:prstGeom>
          <a:noFill/>
          <a:ln/>
        </p:spPr>
        <p:txBody>
          <a:bodyPr wrap="square" lIns="0" tIns="0" rIns="0" bIns="0" rtlCol="0" anchor="ctr"/>
          <a:lstStyle/>
          <a:p>
            <a:pPr marL="0" indent="0" algn="l">
              <a:buNone/>
            </a:pPr>
            <a:r>
              <a:rPr lang="en-US" sz="950" b="1" dirty="0">
                <a:solidFill>
                  <a:srgbClr val="C0392B"/>
                </a:solidFill>
                <a:latin typeface="Arial" pitchFamily="34" charset="0"/>
                <a:ea typeface="Arial" pitchFamily="34" charset="-122"/>
                <a:cs typeface="Arial" pitchFamily="34" charset="-120"/>
              </a:rPr>
              <a:t>Tu parte:  </a:t>
            </a:r>
            <a:r>
              <a:rPr lang="en-US" sz="950" dirty="0">
                <a:solidFill>
                  <a:srgbClr val="212626"/>
                </a:solidFill>
                <a:latin typeface="Arial" pitchFamily="34" charset="0"/>
                <a:ea typeface="Arial" pitchFamily="34" charset="-122"/>
                <a:cs typeface="Arial" pitchFamily="34" charset="-120"/>
              </a:rPr>
              <a:t>no escribas secretos en el código. Usa Vault o variables de entorno. Si el pipeline detecta uno, hay que rotar la credencial: borrarla del historial no elimina el riesgo.</a:t>
            </a:r>
            <a:endParaRPr lang="en-US" sz="950" dirty="0"/>
          </a:p>
        </p:txBody>
      </p:sp>
      <p:pic>
        <p:nvPicPr>
          <p:cNvPr id="28" name="Image 7" descr="preencoded.png"/>
          <p:cNvPicPr>
            <a:picLocks noChangeAspect="1"/>
          </p:cNvPicPr>
          <p:nvPr/>
        </p:nvPicPr>
        <p:blipFill>
          <a:blip r:embed="rId5"/>
          <a:stretch>
            <a:fillRect/>
          </a:stretch>
        </p:blipFill>
        <p:spPr>
          <a:xfrm>
            <a:off x="365760" y="4645152"/>
            <a:ext cx="960120" cy="178308"/>
          </a:xfrm>
          <a:prstGeom prst="rect">
            <a:avLst/>
          </a:prstGeom>
        </p:spPr>
      </p:pic>
      <p:sp>
        <p:nvSpPr>
          <p:cNvPr id="29" name="Text 19"/>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30" name="Text 20"/>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5349240" y="-731520"/>
            <a:ext cx="4206240" cy="5852160"/>
          </a:xfrm>
          <a:prstGeom prst="rect">
            <a:avLst/>
          </a:prstGeom>
        </p:spPr>
      </p:pic>
      <p:sp>
        <p:nvSpPr>
          <p:cNvPr id="3" name="Text 0"/>
          <p:cNvSpPr/>
          <p:nvPr/>
        </p:nvSpPr>
        <p:spPr>
          <a:xfrm>
            <a:off x="457200" y="1234440"/>
            <a:ext cx="1828800" cy="822960"/>
          </a:xfrm>
          <a:prstGeom prst="rect">
            <a:avLst/>
          </a:prstGeom>
          <a:noFill/>
          <a:ln/>
        </p:spPr>
        <p:txBody>
          <a:bodyPr wrap="square" lIns="0" tIns="0" rIns="0" bIns="0" rtlCol="0" anchor="ctr"/>
          <a:lstStyle/>
          <a:p>
            <a:pPr marL="0" indent="0" algn="l">
              <a:buNone/>
            </a:pPr>
            <a:r>
              <a:rPr lang="en-US" sz="5000" b="1" dirty="0">
                <a:solidFill>
                  <a:srgbClr val="F5A800"/>
                </a:solidFill>
                <a:latin typeface="Arial" pitchFamily="34" charset="0"/>
                <a:ea typeface="Arial" pitchFamily="34" charset="-122"/>
                <a:cs typeface="Arial" pitchFamily="34" charset="-120"/>
              </a:rPr>
              <a:t>02</a:t>
            </a:r>
            <a:endParaRPr lang="en-US" sz="5000" dirty="0"/>
          </a:p>
        </p:txBody>
      </p:sp>
      <p:sp>
        <p:nvSpPr>
          <p:cNvPr id="4" name="Text 1"/>
          <p:cNvSpPr/>
          <p:nvPr/>
        </p:nvSpPr>
        <p:spPr>
          <a:xfrm>
            <a:off x="457200" y="2103120"/>
            <a:ext cx="4754880" cy="914400"/>
          </a:xfrm>
          <a:prstGeom prst="rect">
            <a:avLst/>
          </a:prstGeom>
          <a:noFill/>
          <a:ln/>
        </p:spPr>
        <p:txBody>
          <a:bodyPr wrap="square" lIns="0" tIns="0" rIns="0" bIns="0" rtlCol="0" anchor="ctr"/>
          <a:lstStyle/>
          <a:p>
            <a:pPr marL="0" indent="0" algn="l">
              <a:buNone/>
            </a:pPr>
            <a:r>
              <a:rPr lang="en-US" sz="3000" b="1" dirty="0">
                <a:solidFill>
                  <a:srgbClr val="212626"/>
                </a:solidFill>
                <a:latin typeface="Arial" pitchFamily="34" charset="0"/>
                <a:ea typeface="Arial" pitchFamily="34" charset="-122"/>
                <a:cs typeface="Arial" pitchFamily="34" charset="-120"/>
              </a:rPr>
              <a:t>Guías rápidas</a:t>
            </a:r>
            <a:endParaRPr lang="en-US" sz="3000" dirty="0"/>
          </a:p>
        </p:txBody>
      </p:sp>
      <p:sp>
        <p:nvSpPr>
          <p:cNvPr id="5" name="Text 2"/>
          <p:cNvSpPr/>
          <p:nvPr/>
        </p:nvSpPr>
        <p:spPr>
          <a:xfrm>
            <a:off x="457200" y="3063240"/>
            <a:ext cx="4480560" cy="822960"/>
          </a:xfrm>
          <a:prstGeom prst="rect">
            <a:avLst/>
          </a:prstGeom>
          <a:noFill/>
          <a:ln/>
        </p:spPr>
        <p:txBody>
          <a:bodyPr wrap="square" lIns="0" tIns="0" rIns="0" bIns="0" rtlCol="0" anchor="ctr"/>
          <a:lstStyle/>
          <a:p>
            <a:pPr marL="0" indent="0" algn="l">
              <a:buNone/>
            </a:pPr>
            <a:r>
              <a:rPr lang="en-US" sz="1300" dirty="0">
                <a:solidFill>
                  <a:srgbClr val="5D6769"/>
                </a:solidFill>
                <a:latin typeface="Arial" pitchFamily="34" charset="0"/>
                <a:ea typeface="Arial" pitchFamily="34" charset="-122"/>
                <a:cs typeface="Arial" pitchFamily="34" charset="-120"/>
              </a:rPr>
              <a:t>La parte práctica: cómo escanear hoy mismo, antes de que el gate sea obligatorio.</a:t>
            </a:r>
            <a:endParaRPr lang="en-US" sz="1300" dirty="0"/>
          </a:p>
        </p:txBody>
      </p:sp>
      <p:pic>
        <p:nvPicPr>
          <p:cNvPr id="6" name="Image 1" descr="preencoded.png"/>
          <p:cNvPicPr>
            <a:picLocks noChangeAspect="1"/>
          </p:cNvPicPr>
          <p:nvPr/>
        </p:nvPicPr>
        <p:blipFill>
          <a:blip r:embed="rId4"/>
          <a:stretch>
            <a:fillRect/>
          </a:stretch>
        </p:blipFill>
        <p:spPr>
          <a:xfrm>
            <a:off x="365760" y="4645152"/>
            <a:ext cx="960120" cy="1783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Snyk desde la </a:t>
            </a:r>
            <a:r>
              <a:rPr lang="en-US" sz="2200" b="1" dirty="0">
                <a:solidFill>
                  <a:srgbClr val="D99100"/>
                </a:solidFill>
                <a:latin typeface="Arial" pitchFamily="34" charset="0"/>
                <a:ea typeface="Arial" pitchFamily="34" charset="-122"/>
                <a:cs typeface="Arial" pitchFamily="34" charset="-120"/>
              </a:rPr>
              <a:t>CLI</a:t>
            </a:r>
            <a:endParaRPr lang="en-US" sz="2200" dirty="0"/>
          </a:p>
        </p:txBody>
      </p:sp>
      <p:sp>
        <p:nvSpPr>
          <p:cNvPr id="3" name="Shape 1"/>
          <p:cNvSpPr/>
          <p:nvPr/>
        </p:nvSpPr>
        <p:spPr>
          <a:xfrm>
            <a:off x="365760" y="1069848"/>
            <a:ext cx="402336" cy="402336"/>
          </a:xfrm>
          <a:prstGeom prst="ellipse">
            <a:avLst/>
          </a:prstGeom>
          <a:solidFill>
            <a:srgbClr val="F5A800"/>
          </a:solidFill>
          <a:ln/>
        </p:spPr>
      </p:sp>
      <p:sp>
        <p:nvSpPr>
          <p:cNvPr id="4" name="Text 2"/>
          <p:cNvSpPr/>
          <p:nvPr/>
        </p:nvSpPr>
        <p:spPr>
          <a:xfrm>
            <a:off x="365760" y="10698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896112" y="1014984"/>
            <a:ext cx="7863840" cy="274320"/>
          </a:xfrm>
          <a:prstGeom prst="rect">
            <a:avLst/>
          </a:prstGeom>
          <a:noFill/>
          <a:ln/>
        </p:spPr>
        <p:txBody>
          <a:bodyPr wrap="square" lIns="0" tIns="0" rIns="0" bIns="0" rtlCol="0" anchor="ctr"/>
          <a:lstStyle/>
          <a:p>
            <a:pPr marL="0" indent="0" algn="l">
              <a:buNone/>
            </a:pPr>
            <a:r>
              <a:rPr lang="en-US" sz="1200" b="1" dirty="0">
                <a:solidFill>
                  <a:srgbClr val="212626"/>
                </a:solidFill>
                <a:latin typeface="Arial" pitchFamily="34" charset="0"/>
                <a:ea typeface="Arial" pitchFamily="34" charset="-122"/>
                <a:cs typeface="Arial" pitchFamily="34" charset="-120"/>
              </a:rPr>
              <a:t>Instalar el conversor a HTML (solo la primera vez)</a:t>
            </a:r>
            <a:endParaRPr lang="en-US" sz="1200" dirty="0"/>
          </a:p>
        </p:txBody>
      </p:sp>
      <p:sp>
        <p:nvSpPr>
          <p:cNvPr id="6" name="Shape 4"/>
          <p:cNvSpPr/>
          <p:nvPr/>
        </p:nvSpPr>
        <p:spPr>
          <a:xfrm>
            <a:off x="896112" y="1325880"/>
            <a:ext cx="7882128" cy="384048"/>
          </a:xfrm>
          <a:prstGeom prst="roundRect">
            <a:avLst>
              <a:gd name="adj" fmla="val 11905"/>
            </a:avLst>
          </a:prstGeom>
          <a:solidFill>
            <a:srgbClr val="212626"/>
          </a:solidFill>
          <a:ln/>
        </p:spPr>
      </p:sp>
      <p:sp>
        <p:nvSpPr>
          <p:cNvPr id="7" name="Text 5"/>
          <p:cNvSpPr/>
          <p:nvPr/>
        </p:nvSpPr>
        <p:spPr>
          <a:xfrm>
            <a:off x="1005840" y="1325880"/>
            <a:ext cx="7680960" cy="384048"/>
          </a:xfrm>
          <a:prstGeom prst="rect">
            <a:avLst/>
          </a:prstGeom>
          <a:noFill/>
          <a:ln/>
        </p:spPr>
        <p:txBody>
          <a:bodyPr wrap="square" lIns="0" tIns="0" rIns="0" bIns="0" rtlCol="0" anchor="ctr"/>
          <a:lstStyle/>
          <a:p>
            <a:pPr marL="0" indent="0" algn="l">
              <a:buNone/>
            </a:pPr>
            <a:r>
              <a:rPr lang="en-US" sz="1150" b="1" dirty="0">
                <a:solidFill>
                  <a:srgbClr val="FAD380"/>
                </a:solidFill>
                <a:latin typeface="Courier New" pitchFamily="34" charset="0"/>
                <a:ea typeface="Courier New" pitchFamily="34" charset="-122"/>
                <a:cs typeface="Courier New" pitchFamily="34" charset="-120"/>
              </a:rPr>
              <a:t>npm install snyk-to-html -g</a:t>
            </a:r>
            <a:endParaRPr lang="en-US" sz="1150" dirty="0"/>
          </a:p>
        </p:txBody>
      </p:sp>
      <p:sp>
        <p:nvSpPr>
          <p:cNvPr id="8" name="Text 6"/>
          <p:cNvSpPr/>
          <p:nvPr/>
        </p:nvSpPr>
        <p:spPr>
          <a:xfrm>
            <a:off x="896112" y="1728216"/>
            <a:ext cx="7863840" cy="237744"/>
          </a:xfrm>
          <a:prstGeom prst="rect">
            <a:avLst/>
          </a:prstGeom>
          <a:noFill/>
          <a:ln/>
        </p:spPr>
        <p:txBody>
          <a:bodyPr wrap="square" lIns="0" tIns="0" rIns="0" bIns="0" rtlCol="0" anchor="ctr"/>
          <a:lstStyle/>
          <a:p>
            <a:pPr marL="0" indent="0" algn="l">
              <a:buNone/>
            </a:pPr>
            <a:r>
              <a:rPr lang="en-US" sz="950" i="1" dirty="0">
                <a:solidFill>
                  <a:srgbClr val="5D6769"/>
                </a:solidFill>
                <a:latin typeface="Arial" pitchFamily="34" charset="0"/>
                <a:ea typeface="Arial" pitchFamily="34" charset="-122"/>
                <a:cs typeface="Arial" pitchFamily="34" charset="-120"/>
              </a:rPr>
              <a:t>Convierte la salida JSON de Snyk en un reporte HTML legible.</a:t>
            </a:r>
            <a:endParaRPr lang="en-US" sz="950" dirty="0"/>
          </a:p>
        </p:txBody>
      </p:sp>
      <p:sp>
        <p:nvSpPr>
          <p:cNvPr id="9" name="Shape 7"/>
          <p:cNvSpPr/>
          <p:nvPr/>
        </p:nvSpPr>
        <p:spPr>
          <a:xfrm>
            <a:off x="365760" y="2029968"/>
            <a:ext cx="402336" cy="402336"/>
          </a:xfrm>
          <a:prstGeom prst="ellipse">
            <a:avLst/>
          </a:prstGeom>
          <a:solidFill>
            <a:srgbClr val="F5A800"/>
          </a:solidFill>
          <a:ln/>
        </p:spPr>
      </p:sp>
      <p:sp>
        <p:nvSpPr>
          <p:cNvPr id="10" name="Text 8"/>
          <p:cNvSpPr/>
          <p:nvPr/>
        </p:nvSpPr>
        <p:spPr>
          <a:xfrm>
            <a:off x="365760" y="20299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896112" y="1975104"/>
            <a:ext cx="7863840" cy="274320"/>
          </a:xfrm>
          <a:prstGeom prst="rect">
            <a:avLst/>
          </a:prstGeom>
          <a:noFill/>
          <a:ln/>
        </p:spPr>
        <p:txBody>
          <a:bodyPr wrap="square" lIns="0" tIns="0" rIns="0" bIns="0" rtlCol="0" anchor="ctr"/>
          <a:lstStyle/>
          <a:p>
            <a:pPr marL="0" indent="0" algn="l">
              <a:buNone/>
            </a:pPr>
            <a:r>
              <a:rPr lang="en-US" sz="1200" b="1" dirty="0">
                <a:solidFill>
                  <a:srgbClr val="212626"/>
                </a:solidFill>
                <a:latin typeface="Arial" pitchFamily="34" charset="0"/>
                <a:ea typeface="Arial" pitchFamily="34" charset="-122"/>
                <a:cs typeface="Arial" pitchFamily="34" charset="-120"/>
              </a:rPr>
              <a:t>Autenticarse contra Snyk</a:t>
            </a:r>
            <a:endParaRPr lang="en-US" sz="1200" dirty="0"/>
          </a:p>
        </p:txBody>
      </p:sp>
      <p:sp>
        <p:nvSpPr>
          <p:cNvPr id="12" name="Shape 10"/>
          <p:cNvSpPr/>
          <p:nvPr/>
        </p:nvSpPr>
        <p:spPr>
          <a:xfrm>
            <a:off x="896112" y="2286000"/>
            <a:ext cx="7882128" cy="384048"/>
          </a:xfrm>
          <a:prstGeom prst="roundRect">
            <a:avLst>
              <a:gd name="adj" fmla="val 11905"/>
            </a:avLst>
          </a:prstGeom>
          <a:solidFill>
            <a:srgbClr val="212626"/>
          </a:solidFill>
          <a:ln/>
        </p:spPr>
      </p:sp>
      <p:sp>
        <p:nvSpPr>
          <p:cNvPr id="13" name="Text 11"/>
          <p:cNvSpPr/>
          <p:nvPr/>
        </p:nvSpPr>
        <p:spPr>
          <a:xfrm>
            <a:off x="1005840" y="2286000"/>
            <a:ext cx="7680960" cy="384048"/>
          </a:xfrm>
          <a:prstGeom prst="rect">
            <a:avLst/>
          </a:prstGeom>
          <a:noFill/>
          <a:ln/>
        </p:spPr>
        <p:txBody>
          <a:bodyPr wrap="square" lIns="0" tIns="0" rIns="0" bIns="0" rtlCol="0" anchor="ctr"/>
          <a:lstStyle/>
          <a:p>
            <a:pPr marL="0" indent="0" algn="l">
              <a:buNone/>
            </a:pPr>
            <a:r>
              <a:rPr lang="en-US" sz="1150" b="1" dirty="0">
                <a:solidFill>
                  <a:srgbClr val="FAD380"/>
                </a:solidFill>
                <a:latin typeface="Courier New" pitchFamily="34" charset="0"/>
                <a:ea typeface="Courier New" pitchFamily="34" charset="-122"/>
                <a:cs typeface="Courier New" pitchFamily="34" charset="-120"/>
              </a:rPr>
              <a:t>snyk auth</a:t>
            </a:r>
            <a:endParaRPr lang="en-US" sz="1150" dirty="0"/>
          </a:p>
        </p:txBody>
      </p:sp>
      <p:sp>
        <p:nvSpPr>
          <p:cNvPr id="14" name="Text 12"/>
          <p:cNvSpPr/>
          <p:nvPr/>
        </p:nvSpPr>
        <p:spPr>
          <a:xfrm>
            <a:off x="896112" y="2688336"/>
            <a:ext cx="7863840" cy="237744"/>
          </a:xfrm>
          <a:prstGeom prst="rect">
            <a:avLst/>
          </a:prstGeom>
          <a:noFill/>
          <a:ln/>
        </p:spPr>
        <p:txBody>
          <a:bodyPr wrap="square" lIns="0" tIns="0" rIns="0" bIns="0" rtlCol="0" anchor="ctr"/>
          <a:lstStyle/>
          <a:p>
            <a:pPr marL="0" indent="0" algn="l">
              <a:buNone/>
            </a:pPr>
            <a:r>
              <a:rPr lang="en-US" sz="950" i="1" dirty="0">
                <a:solidFill>
                  <a:srgbClr val="5D6769"/>
                </a:solidFill>
                <a:latin typeface="Arial" pitchFamily="34" charset="0"/>
                <a:ea typeface="Arial" pitchFamily="34" charset="-122"/>
                <a:cs typeface="Arial" pitchFamily="34" charset="-120"/>
              </a:rPr>
              <a:t>Abre el navegador, inicia sesión con SSO y confirma la conexión.</a:t>
            </a:r>
            <a:endParaRPr lang="en-US" sz="950" dirty="0"/>
          </a:p>
        </p:txBody>
      </p:sp>
      <p:sp>
        <p:nvSpPr>
          <p:cNvPr id="15" name="Shape 13"/>
          <p:cNvSpPr/>
          <p:nvPr/>
        </p:nvSpPr>
        <p:spPr>
          <a:xfrm>
            <a:off x="365760" y="2990088"/>
            <a:ext cx="402336" cy="402336"/>
          </a:xfrm>
          <a:prstGeom prst="ellipse">
            <a:avLst/>
          </a:prstGeom>
          <a:solidFill>
            <a:srgbClr val="F5A800"/>
          </a:solidFill>
          <a:ln/>
        </p:spPr>
      </p:sp>
      <p:sp>
        <p:nvSpPr>
          <p:cNvPr id="16" name="Text 14"/>
          <p:cNvSpPr/>
          <p:nvPr/>
        </p:nvSpPr>
        <p:spPr>
          <a:xfrm>
            <a:off x="365760" y="299008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96112" y="2935224"/>
            <a:ext cx="7863840" cy="274320"/>
          </a:xfrm>
          <a:prstGeom prst="rect">
            <a:avLst/>
          </a:prstGeom>
          <a:noFill/>
          <a:ln/>
        </p:spPr>
        <p:txBody>
          <a:bodyPr wrap="square" lIns="0" tIns="0" rIns="0" bIns="0" rtlCol="0" anchor="ctr"/>
          <a:lstStyle/>
          <a:p>
            <a:pPr marL="0" indent="0" algn="l">
              <a:buNone/>
            </a:pPr>
            <a:r>
              <a:rPr lang="en-US" sz="1200" b="1" dirty="0">
                <a:solidFill>
                  <a:srgbClr val="212626"/>
                </a:solidFill>
                <a:latin typeface="Arial" pitchFamily="34" charset="0"/>
                <a:ea typeface="Arial" pitchFamily="34" charset="-122"/>
                <a:cs typeface="Arial" pitchFamily="34" charset="-120"/>
              </a:rPr>
              <a:t>Ejecutar el escaneo y generar el reporte</a:t>
            </a:r>
            <a:endParaRPr lang="en-US" sz="1200" dirty="0"/>
          </a:p>
        </p:txBody>
      </p:sp>
      <p:sp>
        <p:nvSpPr>
          <p:cNvPr id="18" name="Shape 16"/>
          <p:cNvSpPr/>
          <p:nvPr/>
        </p:nvSpPr>
        <p:spPr>
          <a:xfrm>
            <a:off x="896112" y="3246120"/>
            <a:ext cx="7882128" cy="384048"/>
          </a:xfrm>
          <a:prstGeom prst="roundRect">
            <a:avLst>
              <a:gd name="adj" fmla="val 11905"/>
            </a:avLst>
          </a:prstGeom>
          <a:solidFill>
            <a:srgbClr val="212626"/>
          </a:solidFill>
          <a:ln/>
        </p:spPr>
      </p:sp>
      <p:sp>
        <p:nvSpPr>
          <p:cNvPr id="19" name="Text 17"/>
          <p:cNvSpPr/>
          <p:nvPr/>
        </p:nvSpPr>
        <p:spPr>
          <a:xfrm>
            <a:off x="1005840" y="3246120"/>
            <a:ext cx="7680960" cy="384048"/>
          </a:xfrm>
          <a:prstGeom prst="rect">
            <a:avLst/>
          </a:prstGeom>
          <a:noFill/>
          <a:ln/>
        </p:spPr>
        <p:txBody>
          <a:bodyPr wrap="square" lIns="0" tIns="0" rIns="0" bIns="0" rtlCol="0" anchor="ctr"/>
          <a:lstStyle/>
          <a:p>
            <a:pPr marL="0" indent="0" algn="l">
              <a:buNone/>
            </a:pPr>
            <a:r>
              <a:rPr lang="en-US" sz="1150" b="1" dirty="0">
                <a:solidFill>
                  <a:srgbClr val="FAD380"/>
                </a:solidFill>
                <a:latin typeface="Courier New" pitchFamily="34" charset="0"/>
                <a:ea typeface="Courier New" pitchFamily="34" charset="-122"/>
                <a:cs typeface="Courier New" pitchFamily="34" charset="-120"/>
              </a:rPr>
              <a:t>snyk code test --json | snyk-to-html -o reporte_codigo.html</a:t>
            </a:r>
            <a:endParaRPr lang="en-US" sz="1150" dirty="0"/>
          </a:p>
        </p:txBody>
      </p:sp>
      <p:sp>
        <p:nvSpPr>
          <p:cNvPr id="20" name="Text 18"/>
          <p:cNvSpPr/>
          <p:nvPr/>
        </p:nvSpPr>
        <p:spPr>
          <a:xfrm>
            <a:off x="896112" y="3648456"/>
            <a:ext cx="7863840" cy="237744"/>
          </a:xfrm>
          <a:prstGeom prst="rect">
            <a:avLst/>
          </a:prstGeom>
          <a:noFill/>
          <a:ln/>
        </p:spPr>
        <p:txBody>
          <a:bodyPr wrap="square" lIns="0" tIns="0" rIns="0" bIns="0" rtlCol="0" anchor="ctr"/>
          <a:lstStyle/>
          <a:p>
            <a:pPr marL="0" indent="0" algn="l">
              <a:buNone/>
            </a:pPr>
            <a:r>
              <a:rPr lang="en-US" sz="950" i="1" dirty="0">
                <a:solidFill>
                  <a:srgbClr val="5D6769"/>
                </a:solidFill>
                <a:latin typeface="Arial" pitchFamily="34" charset="0"/>
                <a:ea typeface="Arial" pitchFamily="34" charset="-122"/>
                <a:cs typeface="Arial" pitchFamily="34" charset="-120"/>
              </a:rPr>
              <a:t>Genera reporte_codigo.html en la raíz del proyecto.</a:t>
            </a:r>
            <a:endParaRPr lang="en-US" sz="950" dirty="0"/>
          </a:p>
        </p:txBody>
      </p:sp>
      <p:sp>
        <p:nvSpPr>
          <p:cNvPr id="21" name="Shape 19"/>
          <p:cNvSpPr/>
          <p:nvPr/>
        </p:nvSpPr>
        <p:spPr>
          <a:xfrm>
            <a:off x="365760" y="4023360"/>
            <a:ext cx="8412480" cy="475488"/>
          </a:xfrm>
          <a:prstGeom prst="roundRect">
            <a:avLst>
              <a:gd name="adj" fmla="val 11538"/>
            </a:avLst>
          </a:prstGeom>
          <a:solidFill>
            <a:srgbClr val="FCE9BF"/>
          </a:solidFill>
          <a:ln w="12700">
            <a:solidFill>
              <a:srgbClr val="F5A800"/>
            </a:solidFill>
            <a:prstDash val="solid"/>
          </a:ln>
        </p:spPr>
      </p:sp>
      <p:sp>
        <p:nvSpPr>
          <p:cNvPr id="22" name="Text 20"/>
          <p:cNvSpPr/>
          <p:nvPr/>
        </p:nvSpPr>
        <p:spPr>
          <a:xfrm>
            <a:off x="548640" y="4023360"/>
            <a:ext cx="8092440" cy="475488"/>
          </a:xfrm>
          <a:prstGeom prst="rect">
            <a:avLst/>
          </a:prstGeom>
          <a:noFill/>
          <a:ln/>
        </p:spPr>
        <p:txBody>
          <a:bodyPr wrap="square" lIns="0" tIns="0" rIns="0" bIns="0" rtlCol="0" anchor="ctr"/>
          <a:lstStyle/>
          <a:p>
            <a:pPr marL="0" indent="0" algn="l">
              <a:buNone/>
            </a:pPr>
            <a:r>
              <a:rPr lang="en-US" sz="950" b="1" dirty="0">
                <a:solidFill>
                  <a:srgbClr val="D99100"/>
                </a:solidFill>
                <a:latin typeface="Arial" pitchFamily="34" charset="0"/>
                <a:ea typeface="Arial" pitchFamily="34" charset="-122"/>
                <a:cs typeface="Arial" pitchFamily="34" charset="-120"/>
              </a:rPr>
              <a:t>Nota:  </a:t>
            </a:r>
            <a:r>
              <a:rPr lang="en-US" sz="950" dirty="0">
                <a:solidFill>
                  <a:srgbClr val="212626"/>
                </a:solidFill>
                <a:latin typeface="Arial" pitchFamily="34" charset="0"/>
                <a:ea typeface="Arial" pitchFamily="34" charset="-122"/>
                <a:cs typeface="Arial" pitchFamily="34" charset="-120"/>
              </a:rPr>
              <a:t>el escaneo local consume una de nuestras 50 licencias empresariales reservadas al pipeline. Úsalo con criterio.</a:t>
            </a:r>
            <a:endParaRPr lang="en-US" sz="950" dirty="0"/>
          </a:p>
        </p:txBody>
      </p:sp>
      <p:pic>
        <p:nvPicPr>
          <p:cNvPr id="23" name="Image 0" descr="preencoded.png"/>
          <p:cNvPicPr>
            <a:picLocks noChangeAspect="1"/>
          </p:cNvPicPr>
          <p:nvPr/>
        </p:nvPicPr>
        <p:blipFill>
          <a:blip r:embed="rId3"/>
          <a:stretch>
            <a:fillRect/>
          </a:stretch>
        </p:blipFill>
        <p:spPr>
          <a:xfrm>
            <a:off x="365760" y="4645152"/>
            <a:ext cx="960120" cy="178308"/>
          </a:xfrm>
          <a:prstGeom prst="rect">
            <a:avLst/>
          </a:prstGeom>
        </p:spPr>
      </p:pic>
      <p:sp>
        <p:nvSpPr>
          <p:cNvPr id="24" name="Text 21"/>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25" name="Text 22"/>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Snyk en tu </a:t>
            </a:r>
            <a:r>
              <a:rPr lang="en-US" sz="2200" b="1" dirty="0">
                <a:solidFill>
                  <a:srgbClr val="D99100"/>
                </a:solidFill>
                <a:latin typeface="Arial" pitchFamily="34" charset="0"/>
                <a:ea typeface="Arial" pitchFamily="34" charset="-122"/>
                <a:cs typeface="Arial" pitchFamily="34" charset="-120"/>
              </a:rPr>
              <a:t>IDE</a:t>
            </a:r>
            <a:endParaRPr lang="en-US" sz="2200" dirty="0"/>
          </a:p>
        </p:txBody>
      </p:sp>
      <p:sp>
        <p:nvSpPr>
          <p:cNvPr id="3" name="Shape 1"/>
          <p:cNvSpPr/>
          <p:nvPr/>
        </p:nvSpPr>
        <p:spPr>
          <a:xfrm>
            <a:off x="365760" y="1005840"/>
            <a:ext cx="2651760" cy="3474720"/>
          </a:xfrm>
          <a:prstGeom prst="roundRect">
            <a:avLst>
              <a:gd name="adj" fmla="val 3448"/>
            </a:avLst>
          </a:prstGeom>
          <a:solidFill>
            <a:srgbClr val="FFFFFF"/>
          </a:solidFill>
          <a:ln w="12700">
            <a:solidFill>
              <a:srgbClr val="E0E0E0"/>
            </a:solidFill>
            <a:prstDash val="solid"/>
          </a:ln>
          <a:effectLst>
            <a:outerShdw blurRad="101600" dist="25400" dir="5400000" algn="bl" rotWithShape="0">
              <a:srgbClr val="212626">
                <a:alpha val="10000"/>
              </a:srgbClr>
            </a:outerShdw>
          </a:effectLst>
        </p:spPr>
      </p:sp>
      <p:sp>
        <p:nvSpPr>
          <p:cNvPr id="4" name="Shape 2"/>
          <p:cNvSpPr/>
          <p:nvPr/>
        </p:nvSpPr>
        <p:spPr>
          <a:xfrm>
            <a:off x="365760" y="1005840"/>
            <a:ext cx="2651760" cy="566928"/>
          </a:xfrm>
          <a:prstGeom prst="roundRect">
            <a:avLst>
              <a:gd name="adj" fmla="val 16129"/>
            </a:avLst>
          </a:prstGeom>
          <a:solidFill>
            <a:srgbClr val="F5A800"/>
          </a:solidFill>
          <a:ln/>
        </p:spPr>
      </p:sp>
      <p:sp>
        <p:nvSpPr>
          <p:cNvPr id="5" name="Shape 3"/>
          <p:cNvSpPr/>
          <p:nvPr/>
        </p:nvSpPr>
        <p:spPr>
          <a:xfrm>
            <a:off x="365760" y="1298448"/>
            <a:ext cx="2651760" cy="274320"/>
          </a:xfrm>
          <a:prstGeom prst="rect">
            <a:avLst/>
          </a:prstGeom>
          <a:solidFill>
            <a:srgbClr val="F5A800"/>
          </a:solidFill>
          <a:ln/>
        </p:spPr>
      </p:sp>
      <p:sp>
        <p:nvSpPr>
          <p:cNvPr id="6" name="Text 4"/>
          <p:cNvSpPr/>
          <p:nvPr/>
        </p:nvSpPr>
        <p:spPr>
          <a:xfrm>
            <a:off x="365760" y="1005840"/>
            <a:ext cx="265176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VS Code</a:t>
            </a:r>
            <a:endParaRPr lang="en-US" sz="1500" dirty="0"/>
          </a:p>
        </p:txBody>
      </p:sp>
      <p:sp>
        <p:nvSpPr>
          <p:cNvPr id="7" name="Text 5"/>
          <p:cNvSpPr/>
          <p:nvPr/>
        </p:nvSpPr>
        <p:spPr>
          <a:xfrm>
            <a:off x="475488" y="170078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1</a:t>
            </a:r>
            <a:endParaRPr lang="en-US" sz="1000" dirty="0"/>
          </a:p>
        </p:txBody>
      </p:sp>
      <p:sp>
        <p:nvSpPr>
          <p:cNvPr id="8" name="Text 6"/>
          <p:cNvSpPr/>
          <p:nvPr/>
        </p:nvSpPr>
        <p:spPr>
          <a:xfrm>
            <a:off x="749808" y="166420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Extensions (Ctrl+Shift+X)</a:t>
            </a:r>
            <a:endParaRPr lang="en-US" sz="950" dirty="0"/>
          </a:p>
        </p:txBody>
      </p:sp>
      <p:sp>
        <p:nvSpPr>
          <p:cNvPr id="9" name="Text 7"/>
          <p:cNvSpPr/>
          <p:nvPr/>
        </p:nvSpPr>
        <p:spPr>
          <a:xfrm>
            <a:off x="475488" y="222656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2</a:t>
            </a:r>
            <a:endParaRPr lang="en-US" sz="1000" dirty="0"/>
          </a:p>
        </p:txBody>
      </p:sp>
      <p:sp>
        <p:nvSpPr>
          <p:cNvPr id="10" name="Text 8"/>
          <p:cNvSpPr/>
          <p:nvPr/>
        </p:nvSpPr>
        <p:spPr>
          <a:xfrm>
            <a:off x="749808" y="218998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Buscar "Snyk Security" (Snyk Ltd)</a:t>
            </a:r>
            <a:endParaRPr lang="en-US" sz="950" dirty="0"/>
          </a:p>
        </p:txBody>
      </p:sp>
      <p:sp>
        <p:nvSpPr>
          <p:cNvPr id="11" name="Text 9"/>
          <p:cNvSpPr/>
          <p:nvPr/>
        </p:nvSpPr>
        <p:spPr>
          <a:xfrm>
            <a:off x="475488" y="275234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3</a:t>
            </a:r>
            <a:endParaRPr lang="en-US" sz="1000" dirty="0"/>
          </a:p>
        </p:txBody>
      </p:sp>
      <p:sp>
        <p:nvSpPr>
          <p:cNvPr id="12" name="Text 10"/>
          <p:cNvSpPr/>
          <p:nvPr/>
        </p:nvSpPr>
        <p:spPr>
          <a:xfrm>
            <a:off x="749808" y="271576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Trust workspace and connect</a:t>
            </a:r>
            <a:endParaRPr lang="en-US" sz="950" dirty="0"/>
          </a:p>
        </p:txBody>
      </p:sp>
      <p:sp>
        <p:nvSpPr>
          <p:cNvPr id="13" name="Text 11"/>
          <p:cNvSpPr/>
          <p:nvPr/>
        </p:nvSpPr>
        <p:spPr>
          <a:xfrm>
            <a:off x="475488" y="327812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4</a:t>
            </a:r>
            <a:endParaRPr lang="en-US" sz="1000" dirty="0"/>
          </a:p>
        </p:txBody>
      </p:sp>
      <p:sp>
        <p:nvSpPr>
          <p:cNvPr id="14" name="Text 12"/>
          <p:cNvSpPr/>
          <p:nvPr/>
        </p:nvSpPr>
        <p:spPr>
          <a:xfrm>
            <a:off x="749808" y="324154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File ▸ Open Folder</a:t>
            </a:r>
            <a:endParaRPr lang="en-US" sz="950" dirty="0"/>
          </a:p>
        </p:txBody>
      </p:sp>
      <p:sp>
        <p:nvSpPr>
          <p:cNvPr id="15" name="Text 13"/>
          <p:cNvSpPr/>
          <p:nvPr/>
        </p:nvSpPr>
        <p:spPr>
          <a:xfrm>
            <a:off x="475488" y="380390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5</a:t>
            </a:r>
            <a:endParaRPr lang="en-US" sz="1000" dirty="0"/>
          </a:p>
        </p:txBody>
      </p:sp>
      <p:sp>
        <p:nvSpPr>
          <p:cNvPr id="16" name="Text 14"/>
          <p:cNvSpPr/>
          <p:nvPr/>
        </p:nvSpPr>
        <p:spPr>
          <a:xfrm>
            <a:off x="749808" y="376732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Ejecutar el escaneo ▶</a:t>
            </a:r>
            <a:endParaRPr lang="en-US" sz="950" dirty="0"/>
          </a:p>
        </p:txBody>
      </p:sp>
      <p:sp>
        <p:nvSpPr>
          <p:cNvPr id="17" name="Shape 15"/>
          <p:cNvSpPr/>
          <p:nvPr/>
        </p:nvSpPr>
        <p:spPr>
          <a:xfrm>
            <a:off x="3227832" y="1005840"/>
            <a:ext cx="2651760" cy="3474720"/>
          </a:xfrm>
          <a:prstGeom prst="roundRect">
            <a:avLst>
              <a:gd name="adj" fmla="val 3448"/>
            </a:avLst>
          </a:prstGeom>
          <a:solidFill>
            <a:srgbClr val="FFFFFF"/>
          </a:solidFill>
          <a:ln w="12700">
            <a:solidFill>
              <a:srgbClr val="E0E0E0"/>
            </a:solidFill>
            <a:prstDash val="solid"/>
          </a:ln>
          <a:effectLst>
            <a:outerShdw blurRad="101600" dist="25400" dir="5400000" algn="bl" rotWithShape="0">
              <a:srgbClr val="212626">
                <a:alpha val="10000"/>
              </a:srgbClr>
            </a:outerShdw>
          </a:effectLst>
        </p:spPr>
      </p:sp>
      <p:sp>
        <p:nvSpPr>
          <p:cNvPr id="18" name="Shape 16"/>
          <p:cNvSpPr/>
          <p:nvPr/>
        </p:nvSpPr>
        <p:spPr>
          <a:xfrm>
            <a:off x="3227832" y="1005840"/>
            <a:ext cx="2651760" cy="566928"/>
          </a:xfrm>
          <a:prstGeom prst="roundRect">
            <a:avLst>
              <a:gd name="adj" fmla="val 16129"/>
            </a:avLst>
          </a:prstGeom>
          <a:solidFill>
            <a:srgbClr val="F5A800"/>
          </a:solidFill>
          <a:ln/>
        </p:spPr>
      </p:sp>
      <p:sp>
        <p:nvSpPr>
          <p:cNvPr id="19" name="Shape 17"/>
          <p:cNvSpPr/>
          <p:nvPr/>
        </p:nvSpPr>
        <p:spPr>
          <a:xfrm>
            <a:off x="3227832" y="1298448"/>
            <a:ext cx="2651760" cy="274320"/>
          </a:xfrm>
          <a:prstGeom prst="rect">
            <a:avLst/>
          </a:prstGeom>
          <a:solidFill>
            <a:srgbClr val="F5A800"/>
          </a:solidFill>
          <a:ln/>
        </p:spPr>
      </p:sp>
      <p:sp>
        <p:nvSpPr>
          <p:cNvPr id="20" name="Text 18"/>
          <p:cNvSpPr/>
          <p:nvPr/>
        </p:nvSpPr>
        <p:spPr>
          <a:xfrm>
            <a:off x="3227832" y="1005840"/>
            <a:ext cx="265176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Visual Studio</a:t>
            </a:r>
            <a:endParaRPr lang="en-US" sz="1500" dirty="0"/>
          </a:p>
        </p:txBody>
      </p:sp>
      <p:sp>
        <p:nvSpPr>
          <p:cNvPr id="21" name="Text 19"/>
          <p:cNvSpPr/>
          <p:nvPr/>
        </p:nvSpPr>
        <p:spPr>
          <a:xfrm>
            <a:off x="3337560" y="170078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1</a:t>
            </a:r>
            <a:endParaRPr lang="en-US" sz="1000" dirty="0"/>
          </a:p>
        </p:txBody>
      </p:sp>
      <p:sp>
        <p:nvSpPr>
          <p:cNvPr id="22" name="Text 20"/>
          <p:cNvSpPr/>
          <p:nvPr/>
        </p:nvSpPr>
        <p:spPr>
          <a:xfrm>
            <a:off x="3611880" y="166420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Extensions ▸ Manage Extensions</a:t>
            </a:r>
            <a:endParaRPr lang="en-US" sz="950" dirty="0"/>
          </a:p>
        </p:txBody>
      </p:sp>
      <p:sp>
        <p:nvSpPr>
          <p:cNvPr id="23" name="Text 21"/>
          <p:cNvSpPr/>
          <p:nvPr/>
        </p:nvSpPr>
        <p:spPr>
          <a:xfrm>
            <a:off x="3337560" y="222656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2</a:t>
            </a:r>
            <a:endParaRPr lang="en-US" sz="1000" dirty="0"/>
          </a:p>
        </p:txBody>
      </p:sp>
      <p:sp>
        <p:nvSpPr>
          <p:cNvPr id="24" name="Text 22"/>
          <p:cNvSpPr/>
          <p:nvPr/>
        </p:nvSpPr>
        <p:spPr>
          <a:xfrm>
            <a:off x="3611880" y="218998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Buscar 'Snyk Security' ▸ Download</a:t>
            </a:r>
            <a:endParaRPr lang="en-US" sz="950" dirty="0"/>
          </a:p>
        </p:txBody>
      </p:sp>
      <p:sp>
        <p:nvSpPr>
          <p:cNvPr id="25" name="Text 23"/>
          <p:cNvSpPr/>
          <p:nvPr/>
        </p:nvSpPr>
        <p:spPr>
          <a:xfrm>
            <a:off x="3337560" y="275234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3</a:t>
            </a:r>
            <a:endParaRPr lang="en-US" sz="1000" dirty="0"/>
          </a:p>
        </p:txBody>
      </p:sp>
      <p:sp>
        <p:nvSpPr>
          <p:cNvPr id="26" name="Text 24"/>
          <p:cNvSpPr/>
          <p:nvPr/>
        </p:nvSpPr>
        <p:spPr>
          <a:xfrm>
            <a:off x="3611880" y="271576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Reiniciar Visual Studio</a:t>
            </a:r>
            <a:endParaRPr lang="en-US" sz="950" dirty="0"/>
          </a:p>
        </p:txBody>
      </p:sp>
      <p:sp>
        <p:nvSpPr>
          <p:cNvPr id="27" name="Text 25"/>
          <p:cNvSpPr/>
          <p:nvPr/>
        </p:nvSpPr>
        <p:spPr>
          <a:xfrm>
            <a:off x="3337560" y="327812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4</a:t>
            </a:r>
            <a:endParaRPr lang="en-US" sz="1000" dirty="0"/>
          </a:p>
        </p:txBody>
      </p:sp>
      <p:sp>
        <p:nvSpPr>
          <p:cNvPr id="28" name="Text 26"/>
          <p:cNvSpPr/>
          <p:nvPr/>
        </p:nvSpPr>
        <p:spPr>
          <a:xfrm>
            <a:off x="3611880" y="324154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Connect / Authenticate (SSO)</a:t>
            </a:r>
            <a:endParaRPr lang="en-US" sz="950" dirty="0"/>
          </a:p>
        </p:txBody>
      </p:sp>
      <p:sp>
        <p:nvSpPr>
          <p:cNvPr id="29" name="Text 27"/>
          <p:cNvSpPr/>
          <p:nvPr/>
        </p:nvSpPr>
        <p:spPr>
          <a:xfrm>
            <a:off x="3337560" y="380390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5</a:t>
            </a:r>
            <a:endParaRPr lang="en-US" sz="1000" dirty="0"/>
          </a:p>
        </p:txBody>
      </p:sp>
      <p:sp>
        <p:nvSpPr>
          <p:cNvPr id="30" name="Text 28"/>
          <p:cNvSpPr/>
          <p:nvPr/>
        </p:nvSpPr>
        <p:spPr>
          <a:xfrm>
            <a:off x="3611880" y="376732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Escaneo manual o al guardar</a:t>
            </a:r>
            <a:endParaRPr lang="en-US" sz="950" dirty="0"/>
          </a:p>
        </p:txBody>
      </p:sp>
      <p:sp>
        <p:nvSpPr>
          <p:cNvPr id="31" name="Shape 29"/>
          <p:cNvSpPr/>
          <p:nvPr/>
        </p:nvSpPr>
        <p:spPr>
          <a:xfrm>
            <a:off x="6089904" y="1005840"/>
            <a:ext cx="2651760" cy="3474720"/>
          </a:xfrm>
          <a:prstGeom prst="roundRect">
            <a:avLst>
              <a:gd name="adj" fmla="val 3448"/>
            </a:avLst>
          </a:prstGeom>
          <a:solidFill>
            <a:srgbClr val="FFFFFF"/>
          </a:solidFill>
          <a:ln w="12700">
            <a:solidFill>
              <a:srgbClr val="E0E0E0"/>
            </a:solidFill>
            <a:prstDash val="solid"/>
          </a:ln>
          <a:effectLst>
            <a:outerShdw blurRad="101600" dist="25400" dir="5400000" algn="bl" rotWithShape="0">
              <a:srgbClr val="212626">
                <a:alpha val="10000"/>
              </a:srgbClr>
            </a:outerShdw>
          </a:effectLst>
        </p:spPr>
      </p:sp>
      <p:sp>
        <p:nvSpPr>
          <p:cNvPr id="32" name="Shape 30"/>
          <p:cNvSpPr/>
          <p:nvPr/>
        </p:nvSpPr>
        <p:spPr>
          <a:xfrm>
            <a:off x="6089904" y="1005840"/>
            <a:ext cx="2651760" cy="566928"/>
          </a:xfrm>
          <a:prstGeom prst="roundRect">
            <a:avLst>
              <a:gd name="adj" fmla="val 16129"/>
            </a:avLst>
          </a:prstGeom>
          <a:solidFill>
            <a:srgbClr val="F5A800"/>
          </a:solidFill>
          <a:ln/>
        </p:spPr>
      </p:sp>
      <p:sp>
        <p:nvSpPr>
          <p:cNvPr id="33" name="Shape 31"/>
          <p:cNvSpPr/>
          <p:nvPr/>
        </p:nvSpPr>
        <p:spPr>
          <a:xfrm>
            <a:off x="6089904" y="1298448"/>
            <a:ext cx="2651760" cy="274320"/>
          </a:xfrm>
          <a:prstGeom prst="rect">
            <a:avLst/>
          </a:prstGeom>
          <a:solidFill>
            <a:srgbClr val="F5A800"/>
          </a:solidFill>
          <a:ln/>
        </p:spPr>
      </p:sp>
      <p:sp>
        <p:nvSpPr>
          <p:cNvPr id="34" name="Text 32"/>
          <p:cNvSpPr/>
          <p:nvPr/>
        </p:nvSpPr>
        <p:spPr>
          <a:xfrm>
            <a:off x="6089904" y="1005840"/>
            <a:ext cx="2651760" cy="56692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IntelliJ IDEA</a:t>
            </a:r>
            <a:endParaRPr lang="en-US" sz="1500" dirty="0"/>
          </a:p>
        </p:txBody>
      </p:sp>
      <p:sp>
        <p:nvSpPr>
          <p:cNvPr id="35" name="Text 33"/>
          <p:cNvSpPr/>
          <p:nvPr/>
        </p:nvSpPr>
        <p:spPr>
          <a:xfrm>
            <a:off x="6199632" y="170078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1</a:t>
            </a:r>
            <a:endParaRPr lang="en-US" sz="1000" dirty="0"/>
          </a:p>
        </p:txBody>
      </p:sp>
      <p:sp>
        <p:nvSpPr>
          <p:cNvPr id="36" name="Text 34"/>
          <p:cNvSpPr/>
          <p:nvPr/>
        </p:nvSpPr>
        <p:spPr>
          <a:xfrm>
            <a:off x="6473952" y="166420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Settings ▸ Plugins ▸ Marketplace</a:t>
            </a:r>
            <a:endParaRPr lang="en-US" sz="950" dirty="0"/>
          </a:p>
        </p:txBody>
      </p:sp>
      <p:sp>
        <p:nvSpPr>
          <p:cNvPr id="37" name="Text 35"/>
          <p:cNvSpPr/>
          <p:nvPr/>
        </p:nvSpPr>
        <p:spPr>
          <a:xfrm>
            <a:off x="6199632" y="222656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2</a:t>
            </a:r>
            <a:endParaRPr lang="en-US" sz="1000" dirty="0"/>
          </a:p>
        </p:txBody>
      </p:sp>
      <p:sp>
        <p:nvSpPr>
          <p:cNvPr id="38" name="Text 36"/>
          <p:cNvSpPr/>
          <p:nvPr/>
        </p:nvSpPr>
        <p:spPr>
          <a:xfrm>
            <a:off x="6473952" y="218998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Buscar 'Snyk Security' ▸ Install</a:t>
            </a:r>
            <a:endParaRPr lang="en-US" sz="950" dirty="0"/>
          </a:p>
        </p:txBody>
      </p:sp>
      <p:sp>
        <p:nvSpPr>
          <p:cNvPr id="39" name="Text 37"/>
          <p:cNvSpPr/>
          <p:nvPr/>
        </p:nvSpPr>
        <p:spPr>
          <a:xfrm>
            <a:off x="6199632" y="275234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3</a:t>
            </a:r>
            <a:endParaRPr lang="en-US" sz="1000" dirty="0"/>
          </a:p>
        </p:txBody>
      </p:sp>
      <p:sp>
        <p:nvSpPr>
          <p:cNvPr id="40" name="Text 38"/>
          <p:cNvSpPr/>
          <p:nvPr/>
        </p:nvSpPr>
        <p:spPr>
          <a:xfrm>
            <a:off x="6473952" y="271576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View ▸ Tool Windows ▸ Snyk</a:t>
            </a:r>
            <a:endParaRPr lang="en-US" sz="950" dirty="0"/>
          </a:p>
        </p:txBody>
      </p:sp>
      <p:sp>
        <p:nvSpPr>
          <p:cNvPr id="41" name="Text 39"/>
          <p:cNvSpPr/>
          <p:nvPr/>
        </p:nvSpPr>
        <p:spPr>
          <a:xfrm>
            <a:off x="6199632" y="327812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4</a:t>
            </a:r>
            <a:endParaRPr lang="en-US" sz="1000" dirty="0"/>
          </a:p>
        </p:txBody>
      </p:sp>
      <p:sp>
        <p:nvSpPr>
          <p:cNvPr id="42" name="Text 40"/>
          <p:cNvSpPr/>
          <p:nvPr/>
        </p:nvSpPr>
        <p:spPr>
          <a:xfrm>
            <a:off x="6473952" y="324154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Connect (SSO o token de API)</a:t>
            </a:r>
            <a:endParaRPr lang="en-US" sz="950" dirty="0"/>
          </a:p>
        </p:txBody>
      </p:sp>
      <p:sp>
        <p:nvSpPr>
          <p:cNvPr id="43" name="Text 41"/>
          <p:cNvSpPr/>
          <p:nvPr/>
        </p:nvSpPr>
        <p:spPr>
          <a:xfrm>
            <a:off x="6199632" y="3803904"/>
            <a:ext cx="274320" cy="274320"/>
          </a:xfrm>
          <a:prstGeom prst="rect">
            <a:avLst/>
          </a:prstGeom>
          <a:noFill/>
          <a:ln/>
        </p:spPr>
        <p:txBody>
          <a:bodyPr wrap="square" lIns="0" tIns="0" rIns="0" bIns="0" rtlCol="0" anchor="ctr"/>
          <a:lstStyle/>
          <a:p>
            <a:pPr marL="0" indent="0" algn="ctr">
              <a:buNone/>
            </a:pPr>
            <a:r>
              <a:rPr lang="en-US" sz="1000" b="1" dirty="0">
                <a:solidFill>
                  <a:srgbClr val="D99100"/>
                </a:solidFill>
                <a:latin typeface="Arial" pitchFamily="34" charset="0"/>
                <a:ea typeface="Arial" pitchFamily="34" charset="-122"/>
                <a:cs typeface="Arial" pitchFamily="34" charset="-120"/>
              </a:rPr>
              <a:t>5</a:t>
            </a:r>
            <a:endParaRPr lang="en-US" sz="1000" dirty="0"/>
          </a:p>
        </p:txBody>
      </p:sp>
      <p:sp>
        <p:nvSpPr>
          <p:cNvPr id="44" name="Text 42"/>
          <p:cNvSpPr/>
          <p:nvPr/>
        </p:nvSpPr>
        <p:spPr>
          <a:xfrm>
            <a:off x="6473952" y="3767328"/>
            <a:ext cx="2194560" cy="384048"/>
          </a:xfrm>
          <a:prstGeom prst="rect">
            <a:avLst/>
          </a:prstGeom>
          <a:noFill/>
          <a:ln/>
        </p:spPr>
        <p:txBody>
          <a:bodyPr wrap="square" lIns="0" tIns="0" rIns="0" bIns="0" rtlCol="0" anchor="ctr"/>
          <a:lstStyle/>
          <a:p>
            <a:pPr marL="0" indent="0" algn="l">
              <a:buNone/>
            </a:pPr>
            <a:r>
              <a:rPr lang="en-US" sz="950" dirty="0">
                <a:solidFill>
                  <a:srgbClr val="212626"/>
                </a:solidFill>
                <a:latin typeface="Arial" pitchFamily="34" charset="0"/>
                <a:ea typeface="Arial" pitchFamily="34" charset="-122"/>
                <a:cs typeface="Arial" pitchFamily="34" charset="-120"/>
              </a:rPr>
              <a:t>Run Scan ▶ desde el panel</a:t>
            </a:r>
            <a:endParaRPr lang="en-US" sz="950" dirty="0"/>
          </a:p>
        </p:txBody>
      </p:sp>
      <p:pic>
        <p:nvPicPr>
          <p:cNvPr id="45" name="Image 0" descr="preencoded.png"/>
          <p:cNvPicPr>
            <a:picLocks noChangeAspect="1"/>
          </p:cNvPicPr>
          <p:nvPr/>
        </p:nvPicPr>
        <p:blipFill>
          <a:blip r:embed="rId3"/>
          <a:stretch>
            <a:fillRect/>
          </a:stretch>
        </p:blipFill>
        <p:spPr>
          <a:xfrm>
            <a:off x="365760" y="4645152"/>
            <a:ext cx="960120" cy="178308"/>
          </a:xfrm>
          <a:prstGeom prst="rect">
            <a:avLst/>
          </a:prstGeom>
        </p:spPr>
      </p:pic>
      <p:sp>
        <p:nvSpPr>
          <p:cNvPr id="46" name="Text 43"/>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47" name="Text 44"/>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256032"/>
            <a:ext cx="8412480" cy="640080"/>
          </a:xfrm>
          <a:prstGeom prst="rect">
            <a:avLst/>
          </a:prstGeom>
          <a:noFill/>
          <a:ln/>
        </p:spPr>
        <p:txBody>
          <a:bodyPr wrap="square" lIns="0" tIns="0" rIns="0" bIns="0" rtlCol="0" anchor="ctr"/>
          <a:lstStyle/>
          <a:p>
            <a:pPr marL="0" indent="0" algn="l">
              <a:buNone/>
            </a:pPr>
            <a:r>
              <a:rPr lang="en-US" sz="2200" dirty="0">
                <a:solidFill>
                  <a:srgbClr val="212626"/>
                </a:solidFill>
                <a:latin typeface="Arial" pitchFamily="34" charset="0"/>
                <a:ea typeface="Arial" pitchFamily="34" charset="-122"/>
                <a:cs typeface="Arial" pitchFamily="34" charset="-120"/>
              </a:rPr>
              <a:t>Tu flujo, </a:t>
            </a:r>
            <a:r>
              <a:rPr lang="en-US" sz="2200" b="1" dirty="0">
                <a:solidFill>
                  <a:srgbClr val="D99100"/>
                </a:solidFill>
                <a:latin typeface="Arial" pitchFamily="34" charset="0"/>
                <a:ea typeface="Arial" pitchFamily="34" charset="-122"/>
                <a:cs typeface="Arial" pitchFamily="34" charset="-120"/>
              </a:rPr>
              <a:t>del IDE al deploy</a:t>
            </a:r>
            <a:endParaRPr lang="en-US" sz="2200" dirty="0"/>
          </a:p>
        </p:txBody>
      </p:sp>
      <p:sp>
        <p:nvSpPr>
          <p:cNvPr id="3" name="Shape 1"/>
          <p:cNvSpPr/>
          <p:nvPr/>
        </p:nvSpPr>
        <p:spPr>
          <a:xfrm>
            <a:off x="365760" y="1143000"/>
            <a:ext cx="1508760" cy="1417320"/>
          </a:xfrm>
          <a:prstGeom prst="roundRect">
            <a:avLst>
              <a:gd name="adj" fmla="val 6452"/>
            </a:avLst>
          </a:prstGeom>
          <a:solidFill>
            <a:srgbClr val="EFEFEF"/>
          </a:solidFill>
          <a:ln/>
        </p:spPr>
      </p:sp>
      <p:sp>
        <p:nvSpPr>
          <p:cNvPr id="4" name="Shape 2"/>
          <p:cNvSpPr/>
          <p:nvPr/>
        </p:nvSpPr>
        <p:spPr>
          <a:xfrm>
            <a:off x="800100" y="1298448"/>
            <a:ext cx="640080" cy="640080"/>
          </a:xfrm>
          <a:prstGeom prst="ellipse">
            <a:avLst/>
          </a:prstGeom>
          <a:solidFill>
            <a:srgbClr val="F5A800"/>
          </a:solidFill>
          <a:ln/>
        </p:spPr>
      </p:sp>
      <p:pic>
        <p:nvPicPr>
          <p:cNvPr id="5" name="Image 0" descr="preencoded.png"/>
          <p:cNvPicPr>
            <a:picLocks noChangeAspect="1"/>
          </p:cNvPicPr>
          <p:nvPr/>
        </p:nvPicPr>
        <p:blipFill>
          <a:blip r:embed="rId3"/>
          <a:stretch>
            <a:fillRect/>
          </a:stretch>
        </p:blipFill>
        <p:spPr>
          <a:xfrm>
            <a:off x="955548" y="1453896"/>
            <a:ext cx="329184" cy="329184"/>
          </a:xfrm>
          <a:prstGeom prst="rect">
            <a:avLst/>
          </a:prstGeom>
        </p:spPr>
      </p:pic>
      <p:sp>
        <p:nvSpPr>
          <p:cNvPr id="6" name="Text 3"/>
          <p:cNvSpPr/>
          <p:nvPr/>
        </p:nvSpPr>
        <p:spPr>
          <a:xfrm>
            <a:off x="365760" y="1975104"/>
            <a:ext cx="1508760" cy="274320"/>
          </a:xfrm>
          <a:prstGeom prst="rect">
            <a:avLst/>
          </a:prstGeom>
          <a:noFill/>
          <a:ln/>
        </p:spPr>
        <p:txBody>
          <a:bodyPr wrap="square" lIns="0" tIns="0" rIns="0" bIns="0" rtlCol="0" anchor="ctr"/>
          <a:lstStyle/>
          <a:p>
            <a:pPr marL="0" indent="0" algn="ctr">
              <a:buNone/>
            </a:pPr>
            <a:r>
              <a:rPr lang="en-US" sz="1150" b="1" dirty="0">
                <a:solidFill>
                  <a:srgbClr val="212626"/>
                </a:solidFill>
                <a:latin typeface="Arial" pitchFamily="34" charset="0"/>
                <a:ea typeface="Arial" pitchFamily="34" charset="-122"/>
                <a:cs typeface="Arial" pitchFamily="34" charset="-120"/>
              </a:rPr>
              <a:t>Codeas</a:t>
            </a:r>
            <a:endParaRPr lang="en-US" sz="1150" dirty="0"/>
          </a:p>
        </p:txBody>
      </p:sp>
      <p:sp>
        <p:nvSpPr>
          <p:cNvPr id="7" name="Text 4"/>
          <p:cNvSpPr/>
          <p:nvPr/>
        </p:nvSpPr>
        <p:spPr>
          <a:xfrm>
            <a:off x="411480" y="2249424"/>
            <a:ext cx="1417320" cy="274320"/>
          </a:xfrm>
          <a:prstGeom prst="rect">
            <a:avLst/>
          </a:prstGeom>
          <a:noFill/>
          <a:ln/>
        </p:spPr>
        <p:txBody>
          <a:bodyPr wrap="square" lIns="0" tIns="0" rIns="0" bIns="0" rtlCol="0" anchor="ctr"/>
          <a:lstStyle/>
          <a:p>
            <a:pPr marL="0" indent="0" algn="ctr">
              <a:buNone/>
            </a:pPr>
            <a:r>
              <a:rPr lang="en-US" sz="850" dirty="0">
                <a:solidFill>
                  <a:srgbClr val="5D6769"/>
                </a:solidFill>
                <a:latin typeface="Arial" pitchFamily="34" charset="0"/>
                <a:ea typeface="Arial" pitchFamily="34" charset="-122"/>
                <a:cs typeface="Arial" pitchFamily="34" charset="-120"/>
              </a:rPr>
              <a:t>IDE con Snyk activo</a:t>
            </a:r>
            <a:endParaRPr lang="en-US" sz="850" dirty="0"/>
          </a:p>
        </p:txBody>
      </p:sp>
      <p:sp>
        <p:nvSpPr>
          <p:cNvPr id="8" name="Text 5"/>
          <p:cNvSpPr/>
          <p:nvPr/>
        </p:nvSpPr>
        <p:spPr>
          <a:xfrm>
            <a:off x="1874520" y="1298448"/>
            <a:ext cx="228600" cy="640080"/>
          </a:xfrm>
          <a:prstGeom prst="rect">
            <a:avLst/>
          </a:prstGeom>
          <a:noFill/>
          <a:ln/>
        </p:spPr>
        <p:txBody>
          <a:bodyPr wrap="square" lIns="0" tIns="0" rIns="0" bIns="0" rtlCol="0" anchor="ctr"/>
          <a:lstStyle/>
          <a:p>
            <a:pPr marL="0" indent="0" algn="ctr">
              <a:buNone/>
            </a:pPr>
            <a:r>
              <a:rPr lang="en-US" sz="2200" b="1" dirty="0">
                <a:solidFill>
                  <a:srgbClr val="F5A800"/>
                </a:solidFill>
              </a:rPr>
              <a:t>›</a:t>
            </a:r>
            <a:endParaRPr lang="en-US" sz="2200" dirty="0"/>
          </a:p>
        </p:txBody>
      </p:sp>
      <p:sp>
        <p:nvSpPr>
          <p:cNvPr id="9" name="Shape 6"/>
          <p:cNvSpPr/>
          <p:nvPr/>
        </p:nvSpPr>
        <p:spPr>
          <a:xfrm>
            <a:off x="2103120" y="1143000"/>
            <a:ext cx="1508760" cy="1417320"/>
          </a:xfrm>
          <a:prstGeom prst="roundRect">
            <a:avLst>
              <a:gd name="adj" fmla="val 6452"/>
            </a:avLst>
          </a:prstGeom>
          <a:solidFill>
            <a:srgbClr val="EFEFEF"/>
          </a:solidFill>
          <a:ln/>
        </p:spPr>
      </p:sp>
      <p:sp>
        <p:nvSpPr>
          <p:cNvPr id="10" name="Shape 7"/>
          <p:cNvSpPr/>
          <p:nvPr/>
        </p:nvSpPr>
        <p:spPr>
          <a:xfrm>
            <a:off x="2537460" y="1298448"/>
            <a:ext cx="640080" cy="640080"/>
          </a:xfrm>
          <a:prstGeom prst="ellipse">
            <a:avLst/>
          </a:prstGeom>
          <a:solidFill>
            <a:srgbClr val="F5A800"/>
          </a:solidFill>
          <a:ln/>
        </p:spPr>
      </p:sp>
      <p:pic>
        <p:nvPicPr>
          <p:cNvPr id="11" name="Image 1" descr="preencoded.png"/>
          <p:cNvPicPr>
            <a:picLocks noChangeAspect="1"/>
          </p:cNvPicPr>
          <p:nvPr/>
        </p:nvPicPr>
        <p:blipFill>
          <a:blip r:embed="rId4"/>
          <a:stretch>
            <a:fillRect/>
          </a:stretch>
        </p:blipFill>
        <p:spPr>
          <a:xfrm>
            <a:off x="2692908" y="1453896"/>
            <a:ext cx="329184" cy="329184"/>
          </a:xfrm>
          <a:prstGeom prst="rect">
            <a:avLst/>
          </a:prstGeom>
        </p:spPr>
      </p:pic>
      <p:sp>
        <p:nvSpPr>
          <p:cNvPr id="12" name="Text 8"/>
          <p:cNvSpPr/>
          <p:nvPr/>
        </p:nvSpPr>
        <p:spPr>
          <a:xfrm>
            <a:off x="2103120" y="1975104"/>
            <a:ext cx="1508760" cy="274320"/>
          </a:xfrm>
          <a:prstGeom prst="rect">
            <a:avLst/>
          </a:prstGeom>
          <a:noFill/>
          <a:ln/>
        </p:spPr>
        <p:txBody>
          <a:bodyPr wrap="square" lIns="0" tIns="0" rIns="0" bIns="0" rtlCol="0" anchor="ctr"/>
          <a:lstStyle/>
          <a:p>
            <a:pPr marL="0" indent="0" algn="ctr">
              <a:buNone/>
            </a:pPr>
            <a:r>
              <a:rPr lang="en-US" sz="1150" b="1" dirty="0">
                <a:solidFill>
                  <a:srgbClr val="212626"/>
                </a:solidFill>
                <a:latin typeface="Arial" pitchFamily="34" charset="0"/>
                <a:ea typeface="Arial" pitchFamily="34" charset="-122"/>
                <a:cs typeface="Arial" pitchFamily="34" charset="-120"/>
              </a:rPr>
              <a:t>Escaneas</a:t>
            </a:r>
            <a:endParaRPr lang="en-US" sz="1150" dirty="0"/>
          </a:p>
        </p:txBody>
      </p:sp>
      <p:sp>
        <p:nvSpPr>
          <p:cNvPr id="13" name="Text 9"/>
          <p:cNvSpPr/>
          <p:nvPr/>
        </p:nvSpPr>
        <p:spPr>
          <a:xfrm>
            <a:off x="2148840" y="2249424"/>
            <a:ext cx="1417320" cy="274320"/>
          </a:xfrm>
          <a:prstGeom prst="rect">
            <a:avLst/>
          </a:prstGeom>
          <a:noFill/>
          <a:ln/>
        </p:spPr>
        <p:txBody>
          <a:bodyPr wrap="square" lIns="0" tIns="0" rIns="0" bIns="0" rtlCol="0" anchor="ctr"/>
          <a:lstStyle/>
          <a:p>
            <a:pPr marL="0" indent="0" algn="ctr">
              <a:buNone/>
            </a:pPr>
            <a:r>
              <a:rPr lang="en-US" sz="850" dirty="0">
                <a:solidFill>
                  <a:srgbClr val="5D6769"/>
                </a:solidFill>
                <a:latin typeface="Arial" pitchFamily="34" charset="0"/>
                <a:ea typeface="Arial" pitchFamily="34" charset="-122"/>
                <a:cs typeface="Arial" pitchFamily="34" charset="-120"/>
              </a:rPr>
              <a:t>snyk code test / ▶</a:t>
            </a:r>
            <a:endParaRPr lang="en-US" sz="850" dirty="0"/>
          </a:p>
        </p:txBody>
      </p:sp>
      <p:sp>
        <p:nvSpPr>
          <p:cNvPr id="14" name="Text 10"/>
          <p:cNvSpPr/>
          <p:nvPr/>
        </p:nvSpPr>
        <p:spPr>
          <a:xfrm>
            <a:off x="3611880" y="1298448"/>
            <a:ext cx="228600" cy="640080"/>
          </a:xfrm>
          <a:prstGeom prst="rect">
            <a:avLst/>
          </a:prstGeom>
          <a:noFill/>
          <a:ln/>
        </p:spPr>
        <p:txBody>
          <a:bodyPr wrap="square" lIns="0" tIns="0" rIns="0" bIns="0" rtlCol="0" anchor="ctr"/>
          <a:lstStyle/>
          <a:p>
            <a:pPr marL="0" indent="0" algn="ctr">
              <a:buNone/>
            </a:pPr>
            <a:r>
              <a:rPr lang="en-US" sz="2200" b="1" dirty="0">
                <a:solidFill>
                  <a:srgbClr val="F5A800"/>
                </a:solidFill>
              </a:rPr>
              <a:t>›</a:t>
            </a:r>
            <a:endParaRPr lang="en-US" sz="2200" dirty="0"/>
          </a:p>
        </p:txBody>
      </p:sp>
      <p:sp>
        <p:nvSpPr>
          <p:cNvPr id="15" name="Shape 11"/>
          <p:cNvSpPr/>
          <p:nvPr/>
        </p:nvSpPr>
        <p:spPr>
          <a:xfrm>
            <a:off x="3840480" y="1143000"/>
            <a:ext cx="1508760" cy="1417320"/>
          </a:xfrm>
          <a:prstGeom prst="roundRect">
            <a:avLst>
              <a:gd name="adj" fmla="val 6452"/>
            </a:avLst>
          </a:prstGeom>
          <a:solidFill>
            <a:srgbClr val="EFEFEF"/>
          </a:solidFill>
          <a:ln/>
        </p:spPr>
      </p:sp>
      <p:sp>
        <p:nvSpPr>
          <p:cNvPr id="16" name="Shape 12"/>
          <p:cNvSpPr/>
          <p:nvPr/>
        </p:nvSpPr>
        <p:spPr>
          <a:xfrm>
            <a:off x="4274820" y="1298448"/>
            <a:ext cx="640080" cy="640080"/>
          </a:xfrm>
          <a:prstGeom prst="ellipse">
            <a:avLst/>
          </a:prstGeom>
          <a:solidFill>
            <a:srgbClr val="F5A800"/>
          </a:solidFill>
          <a:ln/>
        </p:spPr>
      </p:sp>
      <p:pic>
        <p:nvPicPr>
          <p:cNvPr id="17" name="Image 2" descr="preencoded.png"/>
          <p:cNvPicPr>
            <a:picLocks noChangeAspect="1"/>
          </p:cNvPicPr>
          <p:nvPr/>
        </p:nvPicPr>
        <p:blipFill>
          <a:blip r:embed="rId5"/>
          <a:stretch>
            <a:fillRect/>
          </a:stretch>
        </p:blipFill>
        <p:spPr>
          <a:xfrm>
            <a:off x="4430268" y="1453896"/>
            <a:ext cx="329184" cy="329184"/>
          </a:xfrm>
          <a:prstGeom prst="rect">
            <a:avLst/>
          </a:prstGeom>
        </p:spPr>
      </p:pic>
      <p:sp>
        <p:nvSpPr>
          <p:cNvPr id="18" name="Text 13"/>
          <p:cNvSpPr/>
          <p:nvPr/>
        </p:nvSpPr>
        <p:spPr>
          <a:xfrm>
            <a:off x="3840480" y="1975104"/>
            <a:ext cx="1508760" cy="274320"/>
          </a:xfrm>
          <a:prstGeom prst="rect">
            <a:avLst/>
          </a:prstGeom>
          <a:noFill/>
          <a:ln/>
        </p:spPr>
        <p:txBody>
          <a:bodyPr wrap="square" lIns="0" tIns="0" rIns="0" bIns="0" rtlCol="0" anchor="ctr"/>
          <a:lstStyle/>
          <a:p>
            <a:pPr marL="0" indent="0" algn="ctr">
              <a:buNone/>
            </a:pPr>
            <a:r>
              <a:rPr lang="en-US" sz="1150" b="1" dirty="0">
                <a:solidFill>
                  <a:srgbClr val="212626"/>
                </a:solidFill>
                <a:latin typeface="Arial" pitchFamily="34" charset="0"/>
                <a:ea typeface="Arial" pitchFamily="34" charset="-122"/>
                <a:cs typeface="Arial" pitchFamily="34" charset="-120"/>
              </a:rPr>
              <a:t>Corriges</a:t>
            </a:r>
            <a:endParaRPr lang="en-US" sz="1150" dirty="0"/>
          </a:p>
        </p:txBody>
      </p:sp>
      <p:sp>
        <p:nvSpPr>
          <p:cNvPr id="19" name="Text 14"/>
          <p:cNvSpPr/>
          <p:nvPr/>
        </p:nvSpPr>
        <p:spPr>
          <a:xfrm>
            <a:off x="3886200" y="2249424"/>
            <a:ext cx="1417320" cy="274320"/>
          </a:xfrm>
          <a:prstGeom prst="rect">
            <a:avLst/>
          </a:prstGeom>
          <a:noFill/>
          <a:ln/>
        </p:spPr>
        <p:txBody>
          <a:bodyPr wrap="square" lIns="0" tIns="0" rIns="0" bIns="0" rtlCol="0" anchor="ctr"/>
          <a:lstStyle/>
          <a:p>
            <a:pPr marL="0" indent="0" algn="ctr">
              <a:buNone/>
            </a:pPr>
            <a:r>
              <a:rPr lang="en-US" sz="850" dirty="0">
                <a:solidFill>
                  <a:srgbClr val="5D6769"/>
                </a:solidFill>
                <a:latin typeface="Arial" pitchFamily="34" charset="0"/>
                <a:ea typeface="Arial" pitchFamily="34" charset="-122"/>
                <a:cs typeface="Arial" pitchFamily="34" charset="-120"/>
              </a:rPr>
              <a:t>Antes del commit</a:t>
            </a:r>
            <a:endParaRPr lang="en-US" sz="850" dirty="0"/>
          </a:p>
        </p:txBody>
      </p:sp>
      <p:sp>
        <p:nvSpPr>
          <p:cNvPr id="20" name="Text 15"/>
          <p:cNvSpPr/>
          <p:nvPr/>
        </p:nvSpPr>
        <p:spPr>
          <a:xfrm>
            <a:off x="5349240" y="1298448"/>
            <a:ext cx="228600" cy="640080"/>
          </a:xfrm>
          <a:prstGeom prst="rect">
            <a:avLst/>
          </a:prstGeom>
          <a:noFill/>
          <a:ln/>
        </p:spPr>
        <p:txBody>
          <a:bodyPr wrap="square" lIns="0" tIns="0" rIns="0" bIns="0" rtlCol="0" anchor="ctr"/>
          <a:lstStyle/>
          <a:p>
            <a:pPr marL="0" indent="0" algn="ctr">
              <a:buNone/>
            </a:pPr>
            <a:r>
              <a:rPr lang="en-US" sz="2200" b="1" dirty="0">
                <a:solidFill>
                  <a:srgbClr val="F5A800"/>
                </a:solidFill>
              </a:rPr>
              <a:t>›</a:t>
            </a:r>
            <a:endParaRPr lang="en-US" sz="2200" dirty="0"/>
          </a:p>
        </p:txBody>
      </p:sp>
      <p:sp>
        <p:nvSpPr>
          <p:cNvPr id="21" name="Shape 16"/>
          <p:cNvSpPr/>
          <p:nvPr/>
        </p:nvSpPr>
        <p:spPr>
          <a:xfrm>
            <a:off x="5577840" y="1143000"/>
            <a:ext cx="1508760" cy="1417320"/>
          </a:xfrm>
          <a:prstGeom prst="roundRect">
            <a:avLst>
              <a:gd name="adj" fmla="val 6452"/>
            </a:avLst>
          </a:prstGeom>
          <a:solidFill>
            <a:srgbClr val="EFEFEF"/>
          </a:solidFill>
          <a:ln/>
        </p:spPr>
      </p:sp>
      <p:sp>
        <p:nvSpPr>
          <p:cNvPr id="22" name="Shape 17"/>
          <p:cNvSpPr/>
          <p:nvPr/>
        </p:nvSpPr>
        <p:spPr>
          <a:xfrm>
            <a:off x="6012180" y="1298448"/>
            <a:ext cx="640080" cy="640080"/>
          </a:xfrm>
          <a:prstGeom prst="ellipse">
            <a:avLst/>
          </a:prstGeom>
          <a:solidFill>
            <a:srgbClr val="F5A800"/>
          </a:solidFill>
          <a:ln/>
        </p:spPr>
      </p:sp>
      <p:pic>
        <p:nvPicPr>
          <p:cNvPr id="23" name="Image 3" descr="preencoded.png"/>
          <p:cNvPicPr>
            <a:picLocks noChangeAspect="1"/>
          </p:cNvPicPr>
          <p:nvPr/>
        </p:nvPicPr>
        <p:blipFill>
          <a:blip r:embed="rId6"/>
          <a:stretch>
            <a:fillRect/>
          </a:stretch>
        </p:blipFill>
        <p:spPr>
          <a:xfrm>
            <a:off x="6167628" y="1453896"/>
            <a:ext cx="329184" cy="329184"/>
          </a:xfrm>
          <a:prstGeom prst="rect">
            <a:avLst/>
          </a:prstGeom>
        </p:spPr>
      </p:pic>
      <p:sp>
        <p:nvSpPr>
          <p:cNvPr id="24" name="Text 18"/>
          <p:cNvSpPr/>
          <p:nvPr/>
        </p:nvSpPr>
        <p:spPr>
          <a:xfrm>
            <a:off x="5577840" y="1975104"/>
            <a:ext cx="1508760" cy="274320"/>
          </a:xfrm>
          <a:prstGeom prst="rect">
            <a:avLst/>
          </a:prstGeom>
          <a:noFill/>
          <a:ln/>
        </p:spPr>
        <p:txBody>
          <a:bodyPr wrap="square" lIns="0" tIns="0" rIns="0" bIns="0" rtlCol="0" anchor="ctr"/>
          <a:lstStyle/>
          <a:p>
            <a:pPr marL="0" indent="0" algn="ctr">
              <a:buNone/>
            </a:pPr>
            <a:r>
              <a:rPr lang="en-US" sz="1150" b="1" dirty="0">
                <a:solidFill>
                  <a:srgbClr val="212626"/>
                </a:solidFill>
                <a:latin typeface="Arial" pitchFamily="34" charset="0"/>
                <a:ea typeface="Arial" pitchFamily="34" charset="-122"/>
                <a:cs typeface="Arial" pitchFamily="34" charset="-120"/>
              </a:rPr>
              <a:t>Commiteas</a:t>
            </a:r>
            <a:endParaRPr lang="en-US" sz="1150" dirty="0"/>
          </a:p>
        </p:txBody>
      </p:sp>
      <p:sp>
        <p:nvSpPr>
          <p:cNvPr id="25" name="Text 19"/>
          <p:cNvSpPr/>
          <p:nvPr/>
        </p:nvSpPr>
        <p:spPr>
          <a:xfrm>
            <a:off x="5623560" y="2249424"/>
            <a:ext cx="1417320" cy="274320"/>
          </a:xfrm>
          <a:prstGeom prst="rect">
            <a:avLst/>
          </a:prstGeom>
          <a:noFill/>
          <a:ln/>
        </p:spPr>
        <p:txBody>
          <a:bodyPr wrap="square" lIns="0" tIns="0" rIns="0" bIns="0" rtlCol="0" anchor="ctr"/>
          <a:lstStyle/>
          <a:p>
            <a:pPr marL="0" indent="0" algn="ctr">
              <a:buNone/>
            </a:pPr>
            <a:r>
              <a:rPr lang="en-US" sz="850" dirty="0">
                <a:solidFill>
                  <a:srgbClr val="5D6769"/>
                </a:solidFill>
                <a:latin typeface="Arial" pitchFamily="34" charset="0"/>
                <a:ea typeface="Arial" pitchFamily="34" charset="-122"/>
                <a:cs typeface="Arial" pitchFamily="34" charset="-120"/>
              </a:rPr>
              <a:t>Push a Bitbucket</a:t>
            </a:r>
            <a:endParaRPr lang="en-US" sz="850" dirty="0"/>
          </a:p>
        </p:txBody>
      </p:sp>
      <p:sp>
        <p:nvSpPr>
          <p:cNvPr id="26" name="Text 20"/>
          <p:cNvSpPr/>
          <p:nvPr/>
        </p:nvSpPr>
        <p:spPr>
          <a:xfrm>
            <a:off x="7086600" y="1298448"/>
            <a:ext cx="228600" cy="640080"/>
          </a:xfrm>
          <a:prstGeom prst="rect">
            <a:avLst/>
          </a:prstGeom>
          <a:noFill/>
          <a:ln/>
        </p:spPr>
        <p:txBody>
          <a:bodyPr wrap="square" lIns="0" tIns="0" rIns="0" bIns="0" rtlCol="0" anchor="ctr"/>
          <a:lstStyle/>
          <a:p>
            <a:pPr marL="0" indent="0" algn="ctr">
              <a:buNone/>
            </a:pPr>
            <a:r>
              <a:rPr lang="en-US" sz="2200" b="1" dirty="0">
                <a:solidFill>
                  <a:srgbClr val="F5A800"/>
                </a:solidFill>
              </a:rPr>
              <a:t>›</a:t>
            </a:r>
            <a:endParaRPr lang="en-US" sz="2200" dirty="0"/>
          </a:p>
        </p:txBody>
      </p:sp>
      <p:sp>
        <p:nvSpPr>
          <p:cNvPr id="27" name="Shape 21"/>
          <p:cNvSpPr/>
          <p:nvPr/>
        </p:nvSpPr>
        <p:spPr>
          <a:xfrm>
            <a:off x="7315200" y="1143000"/>
            <a:ext cx="1508760" cy="1417320"/>
          </a:xfrm>
          <a:prstGeom prst="roundRect">
            <a:avLst>
              <a:gd name="adj" fmla="val 6452"/>
            </a:avLst>
          </a:prstGeom>
          <a:solidFill>
            <a:srgbClr val="EFEFEF"/>
          </a:solidFill>
          <a:ln/>
        </p:spPr>
      </p:sp>
      <p:sp>
        <p:nvSpPr>
          <p:cNvPr id="28" name="Shape 22"/>
          <p:cNvSpPr/>
          <p:nvPr/>
        </p:nvSpPr>
        <p:spPr>
          <a:xfrm>
            <a:off x="7749540" y="1298448"/>
            <a:ext cx="640080" cy="640080"/>
          </a:xfrm>
          <a:prstGeom prst="ellipse">
            <a:avLst/>
          </a:prstGeom>
          <a:solidFill>
            <a:srgbClr val="F5A800"/>
          </a:solidFill>
          <a:ln/>
        </p:spPr>
      </p:sp>
      <p:pic>
        <p:nvPicPr>
          <p:cNvPr id="29" name="Image 4" descr="preencoded.png"/>
          <p:cNvPicPr>
            <a:picLocks noChangeAspect="1"/>
          </p:cNvPicPr>
          <p:nvPr/>
        </p:nvPicPr>
        <p:blipFill>
          <a:blip r:embed="rId7"/>
          <a:stretch>
            <a:fillRect/>
          </a:stretch>
        </p:blipFill>
        <p:spPr>
          <a:xfrm>
            <a:off x="7904988" y="1453896"/>
            <a:ext cx="329184" cy="329184"/>
          </a:xfrm>
          <a:prstGeom prst="rect">
            <a:avLst/>
          </a:prstGeom>
        </p:spPr>
      </p:pic>
      <p:sp>
        <p:nvSpPr>
          <p:cNvPr id="30" name="Text 23"/>
          <p:cNvSpPr/>
          <p:nvPr/>
        </p:nvSpPr>
        <p:spPr>
          <a:xfrm>
            <a:off x="7315200" y="1975104"/>
            <a:ext cx="1508760" cy="274320"/>
          </a:xfrm>
          <a:prstGeom prst="rect">
            <a:avLst/>
          </a:prstGeom>
          <a:noFill/>
          <a:ln/>
        </p:spPr>
        <p:txBody>
          <a:bodyPr wrap="square" lIns="0" tIns="0" rIns="0" bIns="0" rtlCol="0" anchor="ctr"/>
          <a:lstStyle/>
          <a:p>
            <a:pPr marL="0" indent="0" algn="ctr">
              <a:buNone/>
            </a:pPr>
            <a:r>
              <a:rPr lang="en-US" sz="1150" b="1" dirty="0">
                <a:solidFill>
                  <a:srgbClr val="212626"/>
                </a:solidFill>
                <a:latin typeface="Arial" pitchFamily="34" charset="0"/>
                <a:ea typeface="Arial" pitchFamily="34" charset="-122"/>
                <a:cs typeface="Arial" pitchFamily="34" charset="-120"/>
              </a:rPr>
              <a:t>CI / CD</a:t>
            </a:r>
            <a:endParaRPr lang="en-US" sz="1150" dirty="0"/>
          </a:p>
        </p:txBody>
      </p:sp>
      <p:sp>
        <p:nvSpPr>
          <p:cNvPr id="31" name="Text 24"/>
          <p:cNvSpPr/>
          <p:nvPr/>
        </p:nvSpPr>
        <p:spPr>
          <a:xfrm>
            <a:off x="7360920" y="2249424"/>
            <a:ext cx="1417320" cy="274320"/>
          </a:xfrm>
          <a:prstGeom prst="rect">
            <a:avLst/>
          </a:prstGeom>
          <a:noFill/>
          <a:ln/>
        </p:spPr>
        <p:txBody>
          <a:bodyPr wrap="square" lIns="0" tIns="0" rIns="0" bIns="0" rtlCol="0" anchor="ctr"/>
          <a:lstStyle/>
          <a:p>
            <a:pPr marL="0" indent="0" algn="ctr">
              <a:buNone/>
            </a:pPr>
            <a:r>
              <a:rPr lang="en-US" sz="850" dirty="0">
                <a:solidFill>
                  <a:srgbClr val="5D6769"/>
                </a:solidFill>
                <a:latin typeface="Arial" pitchFamily="34" charset="0"/>
                <a:ea typeface="Arial" pitchFamily="34" charset="-122"/>
                <a:cs typeface="Arial" pitchFamily="34" charset="-120"/>
              </a:rPr>
              <a:t>Snyk + secretos auto</a:t>
            </a:r>
            <a:endParaRPr lang="en-US" sz="850" dirty="0"/>
          </a:p>
        </p:txBody>
      </p:sp>
      <p:sp>
        <p:nvSpPr>
          <p:cNvPr id="32" name="Shape 25"/>
          <p:cNvSpPr/>
          <p:nvPr/>
        </p:nvSpPr>
        <p:spPr>
          <a:xfrm>
            <a:off x="365760" y="2880360"/>
            <a:ext cx="8412480" cy="1554480"/>
          </a:xfrm>
          <a:prstGeom prst="roundRect">
            <a:avLst>
              <a:gd name="adj" fmla="val 7059"/>
            </a:avLst>
          </a:prstGeom>
          <a:solidFill>
            <a:srgbClr val="212626"/>
          </a:solidFill>
          <a:ln/>
        </p:spPr>
      </p:sp>
      <p:pic>
        <p:nvPicPr>
          <p:cNvPr id="33" name="Image 5" descr="preencoded.png"/>
          <p:cNvPicPr>
            <a:picLocks noChangeAspect="1"/>
          </p:cNvPicPr>
          <p:nvPr/>
        </p:nvPicPr>
        <p:blipFill>
          <a:blip r:embed="rId8"/>
          <a:stretch>
            <a:fillRect/>
          </a:stretch>
        </p:blipFill>
        <p:spPr>
          <a:xfrm>
            <a:off x="685800" y="3246120"/>
            <a:ext cx="868680" cy="868680"/>
          </a:xfrm>
          <a:prstGeom prst="rect">
            <a:avLst/>
          </a:prstGeom>
        </p:spPr>
      </p:pic>
      <p:sp>
        <p:nvSpPr>
          <p:cNvPr id="34" name="Text 26"/>
          <p:cNvSpPr/>
          <p:nvPr/>
        </p:nvSpPr>
        <p:spPr>
          <a:xfrm>
            <a:off x="1783080" y="3063240"/>
            <a:ext cx="6766560" cy="457200"/>
          </a:xfrm>
          <a:prstGeom prst="rect">
            <a:avLst/>
          </a:prstGeom>
          <a:noFill/>
          <a:ln/>
        </p:spPr>
        <p:txBody>
          <a:bodyPr wrap="square" lIns="0" tIns="0" rIns="0" bIns="0" rtlCol="0" anchor="ctr"/>
          <a:lstStyle/>
          <a:p>
            <a:pPr marL="0" indent="0" algn="l">
              <a:buNone/>
            </a:pPr>
            <a:r>
              <a:rPr lang="en-US" sz="2000" b="1" dirty="0">
                <a:solidFill>
                  <a:srgbClr val="FFFFFF"/>
                </a:solidFill>
                <a:latin typeface="Arial" pitchFamily="34" charset="0"/>
                <a:ea typeface="Arial" pitchFamily="34" charset="-122"/>
                <a:cs typeface="Arial" pitchFamily="34" charset="-120"/>
              </a:rPr>
              <a:t>Quality Gate</a:t>
            </a:r>
            <a:endParaRPr lang="en-US" sz="2000" dirty="0"/>
          </a:p>
        </p:txBody>
      </p:sp>
      <p:sp>
        <p:nvSpPr>
          <p:cNvPr id="35" name="Text 27"/>
          <p:cNvSpPr/>
          <p:nvPr/>
        </p:nvSpPr>
        <p:spPr>
          <a:xfrm>
            <a:off x="1783080" y="3566160"/>
            <a:ext cx="6858000" cy="731520"/>
          </a:xfrm>
          <a:prstGeom prst="rect">
            <a:avLst/>
          </a:prstGeom>
          <a:noFill/>
          <a:ln/>
        </p:spPr>
        <p:txBody>
          <a:bodyPr wrap="square" lIns="0" tIns="0" rIns="0" bIns="0" rtlCol="0" anchor="t"/>
          <a:lstStyle/>
          <a:p>
            <a:pPr marL="0" indent="0" algn="l">
              <a:lnSpc>
                <a:spcPct val="110000"/>
              </a:lnSpc>
              <a:buNone/>
            </a:pPr>
            <a:r>
              <a:rPr lang="en-US" sz="1300" dirty="0">
                <a:solidFill>
                  <a:srgbClr val="E0E0E0"/>
                </a:solidFill>
                <a:latin typeface="Arial" pitchFamily="34" charset="0"/>
                <a:ea typeface="Arial" pitchFamily="34" charset="-122"/>
                <a:cs typeface="Arial" pitchFamily="34" charset="-120"/>
              </a:rPr>
              <a:t>Sin vulnerabilidades Critical / High  →  </a:t>
            </a:r>
            <a:r>
              <a:rPr lang="en-US" sz="1300" b="1" dirty="0">
                <a:solidFill>
                  <a:srgbClr val="1E8449"/>
                </a:solidFill>
                <a:latin typeface="Arial" pitchFamily="34" charset="0"/>
                <a:ea typeface="Arial" pitchFamily="34" charset="-122"/>
                <a:cs typeface="Arial" pitchFamily="34" charset="-120"/>
              </a:rPr>
              <a:t>deploy aprobado.   </a:t>
            </a:r>
            <a:r>
              <a:rPr lang="en-US" sz="1300" dirty="0">
                <a:solidFill>
                  <a:srgbClr val="E0E0E0"/>
                </a:solidFill>
                <a:latin typeface="Arial" pitchFamily="34" charset="0"/>
                <a:ea typeface="Arial" pitchFamily="34" charset="-122"/>
                <a:cs typeface="Arial" pitchFamily="34" charset="-120"/>
              </a:rPr>
              <a:t>Con ellas  →  </a:t>
            </a:r>
            <a:r>
              <a:rPr lang="en-US" sz="1300" b="1" dirty="0">
                <a:solidFill>
                  <a:srgbClr val="F5A800"/>
                </a:solidFill>
                <a:latin typeface="Arial" pitchFamily="34" charset="0"/>
                <a:ea typeface="Arial" pitchFamily="34" charset="-122"/>
                <a:cs typeface="Arial" pitchFamily="34" charset="-120"/>
              </a:rPr>
              <a:t>el deploy se detiene</a:t>
            </a:r>
            <a:r>
              <a:rPr lang="en-US" sz="1300" dirty="0">
                <a:solidFill>
                  <a:srgbClr val="E0E0E0"/>
                </a:solidFill>
                <a:latin typeface="Arial" pitchFamily="34" charset="0"/>
                <a:ea typeface="Arial" pitchFamily="34" charset="-122"/>
                <a:cs typeface="Arial" pitchFamily="34" charset="-120"/>
              </a:rPr>
              <a:t> hasta remediar.</a:t>
            </a:r>
            <a:endParaRPr lang="en-US" sz="1300" dirty="0"/>
          </a:p>
        </p:txBody>
      </p:sp>
      <p:pic>
        <p:nvPicPr>
          <p:cNvPr id="36" name="Image 6" descr="preencoded.png"/>
          <p:cNvPicPr>
            <a:picLocks noChangeAspect="1"/>
          </p:cNvPicPr>
          <p:nvPr/>
        </p:nvPicPr>
        <p:blipFill>
          <a:blip r:embed="rId9"/>
          <a:stretch>
            <a:fillRect/>
          </a:stretch>
        </p:blipFill>
        <p:spPr>
          <a:xfrm>
            <a:off x="365760" y="4645152"/>
            <a:ext cx="960120" cy="178308"/>
          </a:xfrm>
          <a:prstGeom prst="rect">
            <a:avLst/>
          </a:prstGeom>
        </p:spPr>
      </p:pic>
      <p:sp>
        <p:nvSpPr>
          <p:cNvPr id="37" name="Text 28"/>
          <p:cNvSpPr/>
          <p:nvPr/>
        </p:nvSpPr>
        <p:spPr>
          <a:xfrm>
            <a:off x="5486400" y="4645152"/>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38" name="Text 29"/>
          <p:cNvSpPr/>
          <p:nvPr/>
        </p:nvSpPr>
        <p:spPr>
          <a:xfrm>
            <a:off x="8549640" y="4645152"/>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320040"/>
            <a:ext cx="5486400" cy="914400"/>
          </a:xfrm>
          <a:prstGeom prst="rect">
            <a:avLst/>
          </a:prstGeom>
          <a:noFill/>
          <a:ln/>
        </p:spPr>
        <p:txBody>
          <a:bodyPr wrap="square" lIns="0" tIns="0" rIns="0" bIns="0" rtlCol="0" anchor="ctr"/>
          <a:lstStyle/>
          <a:p>
            <a:pPr marL="0" indent="0" algn="l">
              <a:buNone/>
            </a:pPr>
            <a:r>
              <a:rPr lang="en-US" sz="5000" b="1" dirty="0">
                <a:solidFill>
                  <a:srgbClr val="212626"/>
                </a:solidFill>
                <a:latin typeface="Arial" pitchFamily="34" charset="0"/>
                <a:ea typeface="Arial" pitchFamily="34" charset="-122"/>
                <a:cs typeface="Arial" pitchFamily="34" charset="-120"/>
              </a:rPr>
              <a:t>¡Gracias!</a:t>
            </a:r>
            <a:endParaRPr lang="en-US" sz="5000" dirty="0"/>
          </a:p>
        </p:txBody>
      </p:sp>
      <p:sp>
        <p:nvSpPr>
          <p:cNvPr id="3" name="Text 1"/>
          <p:cNvSpPr/>
          <p:nvPr/>
        </p:nvSpPr>
        <p:spPr>
          <a:xfrm>
            <a:off x="475488" y="1325880"/>
            <a:ext cx="5486400" cy="640080"/>
          </a:xfrm>
          <a:prstGeom prst="rect">
            <a:avLst/>
          </a:prstGeom>
          <a:noFill/>
          <a:ln/>
        </p:spPr>
        <p:txBody>
          <a:bodyPr wrap="square" lIns="0" tIns="0" rIns="0" bIns="0" rtlCol="0" anchor="t"/>
          <a:lstStyle/>
          <a:p>
            <a:pPr marL="0" indent="0" algn="l">
              <a:lnSpc>
                <a:spcPct val="100000"/>
              </a:lnSpc>
              <a:buNone/>
            </a:pPr>
            <a:r>
              <a:rPr lang="en-US" sz="2200" b="1" dirty="0">
                <a:solidFill>
                  <a:srgbClr val="212626"/>
                </a:solidFill>
                <a:latin typeface="Arial" pitchFamily="34" charset="0"/>
                <a:ea typeface="Arial" pitchFamily="34" charset="-122"/>
                <a:cs typeface="Arial" pitchFamily="34" charset="-120"/>
              </a:rPr>
              <a:t>Preguntas y respuestas</a:t>
            </a:r>
            <a:endParaRPr lang="en-US" sz="2200" dirty="0"/>
          </a:p>
        </p:txBody>
      </p:sp>
      <p:sp>
        <p:nvSpPr>
          <p:cNvPr id="4" name="Text 2"/>
          <p:cNvSpPr/>
          <p:nvPr/>
        </p:nvSpPr>
        <p:spPr>
          <a:xfrm>
            <a:off x="457200" y="2468880"/>
            <a:ext cx="2606040" cy="365760"/>
          </a:xfrm>
          <a:prstGeom prst="rect">
            <a:avLst/>
          </a:prstGeom>
          <a:noFill/>
          <a:ln/>
        </p:spPr>
        <p:txBody>
          <a:bodyPr wrap="square" lIns="0" tIns="0" rIns="0" bIns="0" rtlCol="0" anchor="ctr"/>
          <a:lstStyle/>
          <a:p>
            <a:pPr marL="0" indent="0" algn="l">
              <a:buNone/>
            </a:pPr>
            <a:r>
              <a:rPr lang="en-US" sz="1500" b="1" dirty="0">
                <a:solidFill>
                  <a:srgbClr val="212626"/>
                </a:solidFill>
                <a:latin typeface="Arial" pitchFamily="34" charset="0"/>
                <a:ea typeface="Arial" pitchFamily="34" charset="-122"/>
                <a:cs typeface="Arial" pitchFamily="34" charset="-120"/>
              </a:rPr>
              <a:t>Sergio Luna Medel</a:t>
            </a:r>
            <a:endParaRPr lang="en-US" sz="1500" dirty="0"/>
          </a:p>
        </p:txBody>
      </p:sp>
      <p:sp>
        <p:nvSpPr>
          <p:cNvPr id="5" name="Text 3"/>
          <p:cNvSpPr/>
          <p:nvPr/>
        </p:nvSpPr>
        <p:spPr>
          <a:xfrm>
            <a:off x="457200" y="2852928"/>
            <a:ext cx="2606040" cy="292608"/>
          </a:xfrm>
          <a:prstGeom prst="rect">
            <a:avLst/>
          </a:prstGeom>
          <a:noFill/>
          <a:ln/>
        </p:spPr>
        <p:txBody>
          <a:bodyPr wrap="square" lIns="0" tIns="0" rIns="0" bIns="0" rtlCol="0" anchor="ctr"/>
          <a:lstStyle/>
          <a:p>
            <a:pPr marL="0" indent="0" algn="l">
              <a:buNone/>
            </a:pPr>
            <a:r>
              <a:rPr lang="en-US" sz="1150" dirty="0">
                <a:solidFill>
                  <a:srgbClr val="212626"/>
                </a:solidFill>
                <a:latin typeface="Arial" pitchFamily="34" charset="0"/>
                <a:ea typeface="Arial" pitchFamily="34" charset="-122"/>
                <a:cs typeface="Arial" pitchFamily="34" charset="-120"/>
              </a:rPr>
              <a:t>Líder de Ciberseguridad Digital</a:t>
            </a:r>
            <a:endParaRPr lang="en-US" sz="1150" dirty="0"/>
          </a:p>
        </p:txBody>
      </p:sp>
      <p:sp>
        <p:nvSpPr>
          <p:cNvPr id="6" name="Text 4"/>
          <p:cNvSpPr/>
          <p:nvPr/>
        </p:nvSpPr>
        <p:spPr>
          <a:xfrm>
            <a:off x="457200" y="3127248"/>
            <a:ext cx="2697480" cy="274320"/>
          </a:xfrm>
          <a:prstGeom prst="rect">
            <a:avLst/>
          </a:prstGeom>
          <a:noFill/>
          <a:ln/>
        </p:spPr>
        <p:txBody>
          <a:bodyPr wrap="square" lIns="0" tIns="0" rIns="0" bIns="0" rtlCol="0" anchor="ctr"/>
          <a:lstStyle/>
          <a:p>
            <a:pPr marL="0" indent="0" algn="l">
              <a:buNone/>
            </a:pPr>
            <a:r>
              <a:rPr lang="en-US" sz="1100" dirty="0">
                <a:solidFill>
                  <a:srgbClr val="5D6769"/>
                </a:solidFill>
                <a:latin typeface="Arial" pitchFamily="34" charset="0"/>
                <a:ea typeface="Arial" pitchFamily="34" charset="-122"/>
                <a:cs typeface="Arial" pitchFamily="34" charset="-120"/>
              </a:rPr>
              <a:t>slunam@bancobase.com</a:t>
            </a:r>
            <a:endParaRPr lang="en-US" sz="1100" dirty="0"/>
          </a:p>
        </p:txBody>
      </p:sp>
      <p:sp>
        <p:nvSpPr>
          <p:cNvPr id="7" name="Text 5"/>
          <p:cNvSpPr/>
          <p:nvPr/>
        </p:nvSpPr>
        <p:spPr>
          <a:xfrm>
            <a:off x="3246120" y="2468880"/>
            <a:ext cx="2606040" cy="365760"/>
          </a:xfrm>
          <a:prstGeom prst="rect">
            <a:avLst/>
          </a:prstGeom>
          <a:noFill/>
          <a:ln/>
        </p:spPr>
        <p:txBody>
          <a:bodyPr wrap="square" lIns="0" tIns="0" rIns="0" bIns="0" rtlCol="0" anchor="ctr"/>
          <a:lstStyle/>
          <a:p>
            <a:pPr marL="0" indent="0" algn="l">
              <a:buNone/>
            </a:pPr>
            <a:r>
              <a:rPr lang="en-US" sz="1500" b="1" dirty="0">
                <a:solidFill>
                  <a:srgbClr val="212626"/>
                </a:solidFill>
                <a:latin typeface="Arial" pitchFamily="34" charset="0"/>
                <a:ea typeface="Arial" pitchFamily="34" charset="-122"/>
                <a:cs typeface="Arial" pitchFamily="34" charset="-120"/>
              </a:rPr>
              <a:t>Jorge E. Orozco García</a:t>
            </a:r>
            <a:endParaRPr lang="en-US" sz="1500" dirty="0"/>
          </a:p>
        </p:txBody>
      </p:sp>
      <p:sp>
        <p:nvSpPr>
          <p:cNvPr id="8" name="Text 6"/>
          <p:cNvSpPr/>
          <p:nvPr/>
        </p:nvSpPr>
        <p:spPr>
          <a:xfrm>
            <a:off x="3246120" y="2852928"/>
            <a:ext cx="2606040" cy="292608"/>
          </a:xfrm>
          <a:prstGeom prst="rect">
            <a:avLst/>
          </a:prstGeom>
          <a:noFill/>
          <a:ln/>
        </p:spPr>
        <p:txBody>
          <a:bodyPr wrap="square" lIns="0" tIns="0" rIns="0" bIns="0" rtlCol="0" anchor="ctr"/>
          <a:lstStyle/>
          <a:p>
            <a:pPr marL="0" indent="0" algn="l">
              <a:buNone/>
            </a:pPr>
            <a:r>
              <a:rPr lang="en-US" sz="1150" dirty="0">
                <a:solidFill>
                  <a:srgbClr val="212626"/>
                </a:solidFill>
                <a:latin typeface="Arial" pitchFamily="34" charset="0"/>
                <a:ea typeface="Arial" pitchFamily="34" charset="-122"/>
                <a:cs typeface="Arial" pitchFamily="34" charset="-120"/>
              </a:rPr>
              <a:t>Subdirector de Seguridad TI</a:t>
            </a:r>
            <a:endParaRPr lang="en-US" sz="1150" dirty="0"/>
          </a:p>
        </p:txBody>
      </p:sp>
      <p:sp>
        <p:nvSpPr>
          <p:cNvPr id="9" name="Text 7"/>
          <p:cNvSpPr/>
          <p:nvPr/>
        </p:nvSpPr>
        <p:spPr>
          <a:xfrm>
            <a:off x="3246120" y="3127248"/>
            <a:ext cx="2697480" cy="274320"/>
          </a:xfrm>
          <a:prstGeom prst="rect">
            <a:avLst/>
          </a:prstGeom>
          <a:noFill/>
          <a:ln/>
        </p:spPr>
        <p:txBody>
          <a:bodyPr wrap="square" lIns="0" tIns="0" rIns="0" bIns="0" rtlCol="0" anchor="ctr"/>
          <a:lstStyle/>
          <a:p>
            <a:pPr marL="0" indent="0" algn="l">
              <a:buNone/>
            </a:pPr>
            <a:r>
              <a:rPr lang="en-US" sz="1100" dirty="0">
                <a:solidFill>
                  <a:srgbClr val="5D6769"/>
                </a:solidFill>
                <a:latin typeface="Arial" pitchFamily="34" charset="0"/>
                <a:ea typeface="Arial" pitchFamily="34" charset="-122"/>
                <a:cs typeface="Arial" pitchFamily="34" charset="-120"/>
              </a:rPr>
              <a:t>jorozcog@bancobase.com</a:t>
            </a:r>
            <a:endParaRPr lang="en-US" sz="1100" dirty="0"/>
          </a:p>
        </p:txBody>
      </p:sp>
      <p:sp>
        <p:nvSpPr>
          <p:cNvPr id="10" name="Text 8"/>
          <p:cNvSpPr/>
          <p:nvPr/>
        </p:nvSpPr>
        <p:spPr>
          <a:xfrm>
            <a:off x="457200" y="3977640"/>
            <a:ext cx="3657600" cy="320040"/>
          </a:xfrm>
          <a:prstGeom prst="rect">
            <a:avLst/>
          </a:prstGeom>
          <a:noFill/>
          <a:ln/>
        </p:spPr>
        <p:txBody>
          <a:bodyPr wrap="square" lIns="0" tIns="0" rIns="0" bIns="0" rtlCol="0" anchor="ctr"/>
          <a:lstStyle/>
          <a:p>
            <a:pPr marL="0" indent="0" algn="l">
              <a:buNone/>
            </a:pPr>
            <a:r>
              <a:rPr lang="en-US" sz="1400" b="1" dirty="0">
                <a:solidFill>
                  <a:srgbClr val="212626"/>
                </a:solidFill>
                <a:latin typeface="Arial" pitchFamily="34" charset="0"/>
                <a:ea typeface="Arial" pitchFamily="34" charset="-122"/>
                <a:cs typeface="Arial" pitchFamily="34" charset="-120"/>
              </a:rPr>
              <a:t>bancobase.com</a:t>
            </a:r>
            <a:endParaRPr lang="en-US" sz="1400" dirty="0"/>
          </a:p>
        </p:txBody>
      </p:sp>
      <p:pic>
        <p:nvPicPr>
          <p:cNvPr id="11" name="Image 0" descr="preencoded.png"/>
          <p:cNvPicPr>
            <a:picLocks noChangeAspect="1"/>
          </p:cNvPicPr>
          <p:nvPr/>
        </p:nvPicPr>
        <p:blipFill>
          <a:blip r:embed="rId4"/>
          <a:stretch>
            <a:fillRect/>
          </a:stretch>
        </p:blipFill>
        <p:spPr>
          <a:xfrm>
            <a:off x="365760" y="4617720"/>
            <a:ext cx="960120" cy="178308"/>
          </a:xfrm>
          <a:prstGeom prst="rect">
            <a:avLst/>
          </a:prstGeom>
        </p:spPr>
      </p:pic>
      <p:sp>
        <p:nvSpPr>
          <p:cNvPr id="12" name="Text 9"/>
          <p:cNvSpPr/>
          <p:nvPr/>
        </p:nvSpPr>
        <p:spPr>
          <a:xfrm>
            <a:off x="5486400" y="4617720"/>
            <a:ext cx="292608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40 años simplificando tu tesorería</a:t>
            </a:r>
            <a:endParaRPr lang="en-US" sz="800" dirty="0"/>
          </a:p>
        </p:txBody>
      </p:sp>
      <p:sp>
        <p:nvSpPr>
          <p:cNvPr id="13" name="Text 10"/>
          <p:cNvSpPr/>
          <p:nvPr/>
        </p:nvSpPr>
        <p:spPr>
          <a:xfrm>
            <a:off x="8549640" y="4617720"/>
            <a:ext cx="274320" cy="228600"/>
          </a:xfrm>
          <a:prstGeom prst="rect">
            <a:avLst/>
          </a:prstGeom>
          <a:noFill/>
          <a:ln/>
        </p:spPr>
        <p:txBody>
          <a:bodyPr wrap="square" lIns="0" tIns="0" rIns="0" bIns="0" rtlCol="0" anchor="ctr"/>
          <a:lstStyle/>
          <a:p>
            <a:pPr marL="0" indent="0" algn="r">
              <a:buNone/>
            </a:pPr>
            <a:r>
              <a:rPr lang="en-US" sz="800" dirty="0">
                <a:solidFill>
                  <a:srgbClr val="5D6769"/>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1285</Words>
  <Application>Microsoft Office PowerPoint</Application>
  <PresentationFormat>On-screen Show (16:9)</PresentationFormat>
  <Paragraphs>210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Cultura de Seguridad — SecDevOps Banco Base</dc:title>
  <dc:subject>PptxGenJS Presentation</dc:subject>
  <dc:creator>Banco Base · Ciberseguridad</dc:creator>
  <cp:lastModifiedBy>Sergio Luna</cp:lastModifiedBy>
  <cp:revision>3</cp:revision>
  <dcterms:created xsi:type="dcterms:W3CDTF">2026-06-15T19:48:15Z</dcterms:created>
  <dcterms:modified xsi:type="dcterms:W3CDTF">2026-06-15T20:16:20Z</dcterms:modified>
</cp:coreProperties>
</file>